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hyperlink" Target="Ore_Body_AI_live_3D_model.html" TargetMode="External"/><Relationship Id="rId5" Type="http://schemas.openxmlformats.org/officeDocument/2006/relationships/image" Target="../media/image2.png"/><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6.png"/><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pic>
        <p:nvPicPr>
          <p:cNvPr id="7" name="Picture 6" descr="ecomine_logo.jpg"/>
          <p:cNvPicPr>
            <a:picLocks noChangeAspect="1"/>
          </p:cNvPicPr>
          <p:nvPr/>
        </p:nvPicPr>
        <p:blipFill>
          <a:blip r:embed="rId2"/>
          <a:stretch>
            <a:fillRect/>
          </a:stretch>
        </p:blipFill>
        <p:spPr>
          <a:xfrm>
            <a:off x="4525365" y="566928"/>
            <a:ext cx="2926080" cy="2926080"/>
          </a:xfrm>
          <a:prstGeom prst="rect">
            <a:avLst/>
          </a:prstGeom>
        </p:spPr>
      </p:pic>
      <p:sp>
        <p:nvSpPr>
          <p:cNvPr id="8" name="TextBox 7"/>
          <p:cNvSpPr txBox="1"/>
          <p:nvPr/>
        </p:nvSpPr>
        <p:spPr>
          <a:xfrm>
            <a:off x="640080" y="3639312"/>
            <a:ext cx="10881360" cy="868680"/>
          </a:xfrm>
          <a:prstGeom prst="rect">
            <a:avLst/>
          </a:prstGeom>
          <a:noFill/>
        </p:spPr>
        <p:txBody>
          <a:bodyPr wrap="square" lIns="18288" tIns="0" rIns="18288" bIns="0" anchor="t">
            <a:spAutoFit/>
          </a:bodyPr>
          <a:lstStyle/>
          <a:p>
            <a:pPr algn="ctr">
              <a:spcAft>
                <a:spcPts val="0"/>
              </a:spcAft>
              <a:buNone/>
            </a:pPr>
            <a:r>
              <a:rPr sz="5400" b="1" i="0">
                <a:solidFill>
                  <a:srgbClr val="0070C0"/>
                </a:solidFill>
                <a:latin typeface="Calibri"/>
              </a:rPr>
              <a:t>Ore Body AI</a:t>
            </a:r>
          </a:p>
        </p:txBody>
      </p:sp>
      <p:sp>
        <p:nvSpPr>
          <p:cNvPr id="9" name="TextBox 8"/>
          <p:cNvSpPr txBox="1"/>
          <p:nvPr/>
        </p:nvSpPr>
        <p:spPr>
          <a:xfrm>
            <a:off x="640080" y="4443984"/>
            <a:ext cx="10881360" cy="548640"/>
          </a:xfrm>
          <a:prstGeom prst="rect">
            <a:avLst/>
          </a:prstGeom>
          <a:noFill/>
        </p:spPr>
        <p:txBody>
          <a:bodyPr wrap="square" lIns="18288" tIns="0" rIns="18288" bIns="0" anchor="t">
            <a:spAutoFit/>
          </a:bodyPr>
          <a:lstStyle/>
          <a:p>
            <a:pPr algn="ctr">
              <a:spcAft>
                <a:spcPts val="0"/>
              </a:spcAft>
              <a:buNone/>
            </a:pPr>
            <a:r>
              <a:rPr sz="3000" b="1" i="0">
                <a:solidFill>
                  <a:srgbClr val="00B050"/>
                </a:solidFill>
                <a:latin typeface="Calibri"/>
              </a:rPr>
              <a:t>Drillholes to Ultimate Pit Limit</a:t>
            </a:r>
          </a:p>
        </p:txBody>
      </p:sp>
      <p:sp>
        <p:nvSpPr>
          <p:cNvPr id="10" name="TextBox 9"/>
          <p:cNvSpPr txBox="1"/>
          <p:nvPr/>
        </p:nvSpPr>
        <p:spPr>
          <a:xfrm>
            <a:off x="1371600" y="5047488"/>
            <a:ext cx="9418320" cy="365760"/>
          </a:xfrm>
          <a:prstGeom prst="rect">
            <a:avLst/>
          </a:prstGeom>
          <a:noFill/>
        </p:spPr>
        <p:txBody>
          <a:bodyPr wrap="square" lIns="18288" tIns="0" rIns="18288" bIns="0" anchor="t">
            <a:spAutoFit/>
          </a:bodyPr>
          <a:lstStyle/>
          <a:p>
            <a:pPr algn="ctr">
              <a:spcAft>
                <a:spcPts val="0"/>
              </a:spcAft>
              <a:buNone/>
            </a:pPr>
            <a:r>
              <a:rPr sz="2000" b="0" i="0">
                <a:solidFill>
                  <a:srgbClr val="1A1F26"/>
                </a:solidFill>
                <a:latin typeface="Calibri"/>
              </a:rPr>
              <a:t>An AI-assisted open-pit resource and mine design system</a:t>
            </a:r>
          </a:p>
        </p:txBody>
      </p:sp>
      <p:sp>
        <p:nvSpPr>
          <p:cNvPr id="11" name="TextBox 10"/>
          <p:cNvSpPr txBox="1"/>
          <p:nvPr/>
        </p:nvSpPr>
        <p:spPr>
          <a:xfrm>
            <a:off x="1371600" y="5431536"/>
            <a:ext cx="9418320" cy="365760"/>
          </a:xfrm>
          <a:prstGeom prst="rect">
            <a:avLst/>
          </a:prstGeom>
          <a:noFill/>
        </p:spPr>
        <p:txBody>
          <a:bodyPr wrap="square" lIns="18288" tIns="0" rIns="18288" bIns="0" anchor="t">
            <a:spAutoFit/>
          </a:bodyPr>
          <a:lstStyle/>
          <a:p>
            <a:pPr algn="ctr">
              <a:spcAft>
                <a:spcPts val="0"/>
              </a:spcAft>
              <a:buNone/>
            </a:pPr>
            <a:r>
              <a:rPr sz="1600" b="0" i="1">
                <a:solidFill>
                  <a:srgbClr val="5A6673"/>
                </a:solidFill>
                <a:latin typeface="Calibri"/>
              </a:rPr>
              <a:t>Four drillhole tables in. One interactive engineering report out.</a:t>
            </a:r>
          </a:p>
        </p:txBody>
      </p:sp>
      <p:sp>
        <p:nvSpPr>
          <p:cNvPr id="12" name="TextBox 11"/>
          <p:cNvSpPr txBox="1"/>
          <p:nvPr/>
        </p:nvSpPr>
        <p:spPr>
          <a:xfrm>
            <a:off x="566928" y="5998464"/>
            <a:ext cx="4572000" cy="640080"/>
          </a:xfrm>
          <a:prstGeom prst="rect">
            <a:avLst/>
          </a:prstGeom>
          <a:noFill/>
        </p:spPr>
        <p:txBody>
          <a:bodyPr wrap="square" lIns="18288" tIns="0" rIns="18288" bIns="0" anchor="t">
            <a:spAutoFit/>
          </a:bodyPr>
          <a:lstStyle/>
          <a:p>
            <a:pPr algn="l">
              <a:spcAft>
                <a:spcPts val="200"/>
              </a:spcAft>
              <a:buNone/>
            </a:pPr>
            <a:r>
              <a:rPr sz="1800" b="1" i="0">
                <a:solidFill>
                  <a:srgbClr val="1A1F26"/>
                </a:solidFill>
                <a:latin typeface="Calibri"/>
              </a:rPr>
              <a:t>Presented By</a:t>
            </a:r>
          </a:p>
          <a:p>
            <a:pPr algn="l">
              <a:spcAft>
                <a:spcPts val="0"/>
              </a:spcAft>
              <a:buNone/>
            </a:pPr>
            <a:r>
              <a:rPr sz="1800" b="0" i="0">
                <a:solidFill>
                  <a:srgbClr val="1A1F26"/>
                </a:solidFill>
                <a:latin typeface="Calibri"/>
              </a:rPr>
              <a:t>[ Your name ]</a:t>
            </a:r>
          </a:p>
        </p:txBody>
      </p:sp>
      <p:sp>
        <p:nvSpPr>
          <p:cNvPr id="13" name="TextBox 12"/>
          <p:cNvSpPr txBox="1"/>
          <p:nvPr/>
        </p:nvSpPr>
        <p:spPr>
          <a:xfrm>
            <a:off x="7315200" y="5998464"/>
            <a:ext cx="4297680" cy="640080"/>
          </a:xfrm>
          <a:prstGeom prst="rect">
            <a:avLst/>
          </a:prstGeom>
          <a:noFill/>
        </p:spPr>
        <p:txBody>
          <a:bodyPr wrap="square" lIns="18288" tIns="0" rIns="18288" bIns="0" anchor="t">
            <a:spAutoFit/>
          </a:bodyPr>
          <a:lstStyle/>
          <a:p>
            <a:pPr algn="r">
              <a:spcAft>
                <a:spcPts val="200"/>
              </a:spcAft>
              <a:buNone/>
            </a:pPr>
            <a:r>
              <a:rPr sz="1400" b="1" i="0">
                <a:solidFill>
                  <a:srgbClr val="5A6673"/>
                </a:solidFill>
                <a:latin typeface="Calibri"/>
              </a:rPr>
              <a:t>Prepared for</a:t>
            </a:r>
          </a:p>
          <a:p>
            <a:pPr algn="r">
              <a:spcAft>
                <a:spcPts val="0"/>
              </a:spcAft>
              <a:buNone/>
            </a:pPr>
            <a:r>
              <a:rPr sz="1700" b="1" i="0">
                <a:solidFill>
                  <a:srgbClr val="00B050"/>
                </a:solidFill>
                <a:latin typeface="Calibri"/>
              </a:rPr>
              <a:t>Ecomine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tIns="0" rIns="18288" bIns="0" anchor="t">
            <a:spAutoFit/>
          </a:bodyPr>
          <a:lstStyle/>
          <a:p>
            <a:pPr algn="l">
              <a:spcAft>
                <a:spcPts val="0"/>
              </a:spcAft>
              <a:buNone/>
            </a:pPr>
            <a:r>
              <a:rPr sz="3600" b="1" i="0">
                <a:solidFill>
                  <a:srgbClr val="00B050"/>
                </a:solidFill>
                <a:latin typeface="Calibri"/>
              </a:rPr>
              <a:t>The Problem With Resource Estimation Today</a:t>
            </a:r>
          </a:p>
        </p:txBody>
      </p:sp>
      <p:sp>
        <p:nvSpPr>
          <p:cNvPr id="8" name="TextBox 7"/>
          <p:cNvSpPr txBox="1"/>
          <p:nvPr/>
        </p:nvSpPr>
        <p:spPr>
          <a:xfrm>
            <a:off x="384048" y="987552"/>
            <a:ext cx="9601200" cy="457200"/>
          </a:xfrm>
          <a:prstGeom prst="rect">
            <a:avLst/>
          </a:prstGeom>
          <a:noFill/>
        </p:spPr>
        <p:txBody>
          <a:bodyPr wrap="square" lIns="18288" tIns="0" rIns="18288" bIns="0" anchor="t">
            <a:spAutoFit/>
          </a:bodyPr>
          <a:lstStyle/>
          <a:p>
            <a:pPr algn="l">
              <a:spcAft>
                <a:spcPts val="0"/>
              </a:spcAft>
              <a:buNone/>
            </a:pPr>
            <a:r>
              <a:rPr sz="2400" b="1" i="0">
                <a:solidFill>
                  <a:srgbClr val="0070C0"/>
                </a:solidFill>
                <a:latin typeface="Calibri"/>
              </a:rPr>
              <a:t>A fragmented workflow, measured in weeks</a:t>
            </a:r>
          </a:p>
        </p:txBody>
      </p:sp>
      <p:sp>
        <p:nvSpPr>
          <p:cNvPr id="9" name="TextBox 8"/>
          <p:cNvSpPr txBox="1"/>
          <p:nvPr/>
        </p:nvSpPr>
        <p:spPr>
          <a:xfrm>
            <a:off x="502920" y="1609344"/>
            <a:ext cx="6035040" cy="2926080"/>
          </a:xfrm>
          <a:prstGeom prst="rect">
            <a:avLst/>
          </a:prstGeom>
          <a:noFill/>
        </p:spPr>
        <p:txBody>
          <a:bodyPr wrap="square" lIns="18288" tIns="0" rIns="18288" bIns="0" anchor="t">
            <a:spAutoFit/>
          </a:bodyPr>
          <a:lstStyle/>
          <a:p>
            <a:pPr marL="201168" indent="-164592" algn="l">
              <a:lnSpc>
                <a:spcPct val="99000"/>
              </a:lnSpc>
              <a:spcAft>
                <a:spcPts val="1200"/>
              </a:spcAft>
              <a:buFont typeface="Arial"/>
              <a:buChar char="•"/>
            </a:pPr>
            <a:r>
              <a:rPr sz="1700" b="0" i="0">
                <a:solidFill>
                  <a:srgbClr val="1A1F26"/>
                </a:solidFill>
                <a:latin typeface="Calibri"/>
              </a:rPr>
              <a:t>A resource estimate passes through five disconnected tools and several specialists</a:t>
            </a:r>
          </a:p>
          <a:p>
            <a:pPr marL="201168" indent="-164592" algn="l">
              <a:lnSpc>
                <a:spcPct val="99000"/>
              </a:lnSpc>
              <a:spcAft>
                <a:spcPts val="1200"/>
              </a:spcAft>
              <a:buFont typeface="Arial"/>
              <a:buChar char="•"/>
            </a:pPr>
            <a:r>
              <a:rPr sz="1700" b="0" i="0">
                <a:solidFill>
                  <a:srgbClr val="1A1F26"/>
                </a:solidFill>
                <a:latin typeface="Calibri"/>
              </a:rPr>
              <a:t>Every step is manual: desurvey, composite, cap, digitise, estimate, optimise</a:t>
            </a:r>
          </a:p>
          <a:p>
            <a:pPr marL="201168" indent="-164592" algn="l">
              <a:lnSpc>
                <a:spcPct val="99000"/>
              </a:lnSpc>
              <a:spcAft>
                <a:spcPts val="1200"/>
              </a:spcAft>
              <a:buFont typeface="Arial"/>
              <a:buChar char="•"/>
            </a:pPr>
            <a:r>
              <a:rPr sz="1700" b="0" i="0">
                <a:solidFill>
                  <a:srgbClr val="1A1F26"/>
                </a:solidFill>
                <a:latin typeface="Calibri"/>
              </a:rPr>
              <a:t>Turnaround is days to weeks, so a new drill result cannot be tested quickly</a:t>
            </a:r>
          </a:p>
          <a:p>
            <a:pPr marL="201168" indent="-164592" algn="l">
              <a:lnSpc>
                <a:spcPct val="99000"/>
              </a:lnSpc>
              <a:spcAft>
                <a:spcPts val="1200"/>
              </a:spcAft>
              <a:buFont typeface="Arial"/>
              <a:buChar char="•"/>
            </a:pPr>
            <a:r>
              <a:rPr sz="1700" b="0" i="0">
                <a:solidFill>
                  <a:srgbClr val="1A1F26"/>
                </a:solidFill>
                <a:latin typeface="Calibri"/>
              </a:rPr>
              <a:t>Assumptions get buried — cutoff grade and pit economics are rarely stated on the page</a:t>
            </a:r>
          </a:p>
          <a:p>
            <a:pPr marL="201168" indent="-164592" algn="l">
              <a:lnSpc>
                <a:spcPct val="99000"/>
              </a:lnSpc>
              <a:spcAft>
                <a:spcPts val="1200"/>
              </a:spcAft>
              <a:buFont typeface="Arial"/>
              <a:buChar char="•"/>
            </a:pPr>
            <a:r>
              <a:rPr sz="1700" b="0" i="0">
                <a:solidFill>
                  <a:srgbClr val="1A1F26"/>
                </a:solidFill>
                <a:latin typeface="Calibri"/>
              </a:rPr>
              <a:t>Results are hard to audit: numbers arrive without the method that produced them</a:t>
            </a:r>
          </a:p>
        </p:txBody>
      </p:sp>
      <p:sp>
        <p:nvSpPr>
          <p:cNvPr id="10" name="Rounded Rectangle 9"/>
          <p:cNvSpPr/>
          <p:nvPr/>
        </p:nvSpPr>
        <p:spPr>
          <a:xfrm>
            <a:off x="566928" y="4937760"/>
            <a:ext cx="1097280" cy="402336"/>
          </a:xfrm>
          <a:prstGeom prst="roundRect">
            <a:avLst>
              <a:gd name="adj" fmla="val 22000"/>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Aft>
                <a:spcPts val="0"/>
              </a:spcAft>
              <a:buNone/>
            </a:pPr>
            <a:r>
              <a:rPr sz="1300" b="1" i="0">
                <a:solidFill>
                  <a:srgbClr val="1A1F26"/>
                </a:solidFill>
                <a:latin typeface="Calibri"/>
              </a:rPr>
              <a:t>Logging</a:t>
            </a:r>
          </a:p>
        </p:txBody>
      </p:sp>
      <p:sp>
        <p:nvSpPr>
          <p:cNvPr id="11" name="Right Arrow 10"/>
          <p:cNvSpPr/>
          <p:nvPr/>
        </p:nvSpPr>
        <p:spPr>
          <a:xfrm>
            <a:off x="1691639" y="5056632"/>
            <a:ext cx="182880" cy="164592"/>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920239" y="4937760"/>
            <a:ext cx="1188720" cy="402336"/>
          </a:xfrm>
          <a:prstGeom prst="roundRect">
            <a:avLst>
              <a:gd name="adj" fmla="val 22000"/>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Aft>
                <a:spcPts val="0"/>
              </a:spcAft>
              <a:buNone/>
            </a:pPr>
            <a:r>
              <a:rPr sz="1300" b="1" i="0">
                <a:solidFill>
                  <a:srgbClr val="1A1F26"/>
                </a:solidFill>
                <a:latin typeface="Calibri"/>
              </a:rPr>
              <a:t>Desurvey</a:t>
            </a:r>
          </a:p>
        </p:txBody>
      </p:sp>
      <p:sp>
        <p:nvSpPr>
          <p:cNvPr id="13" name="Right Arrow 12"/>
          <p:cNvSpPr/>
          <p:nvPr/>
        </p:nvSpPr>
        <p:spPr>
          <a:xfrm>
            <a:off x="3136391" y="5056632"/>
            <a:ext cx="182880" cy="164592"/>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364991" y="4937760"/>
            <a:ext cx="1417320" cy="402336"/>
          </a:xfrm>
          <a:prstGeom prst="roundRect">
            <a:avLst>
              <a:gd name="adj" fmla="val 22000"/>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Aft>
                <a:spcPts val="0"/>
              </a:spcAft>
              <a:buNone/>
            </a:pPr>
            <a:r>
              <a:rPr sz="1300" b="1" i="0">
                <a:solidFill>
                  <a:srgbClr val="1A1F26"/>
                </a:solidFill>
                <a:latin typeface="Calibri"/>
              </a:rPr>
              <a:t>Compositing</a:t>
            </a:r>
          </a:p>
        </p:txBody>
      </p:sp>
      <p:sp>
        <p:nvSpPr>
          <p:cNvPr id="15" name="Right Arrow 14"/>
          <p:cNvSpPr/>
          <p:nvPr/>
        </p:nvSpPr>
        <p:spPr>
          <a:xfrm>
            <a:off x="4809744" y="5056632"/>
            <a:ext cx="182880" cy="164592"/>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38344" y="4937760"/>
            <a:ext cx="1481328" cy="402336"/>
          </a:xfrm>
          <a:prstGeom prst="roundRect">
            <a:avLst>
              <a:gd name="adj" fmla="val 22000"/>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Aft>
                <a:spcPts val="0"/>
              </a:spcAft>
              <a:buNone/>
            </a:pPr>
            <a:r>
              <a:rPr sz="1300" b="1" i="0">
                <a:solidFill>
                  <a:srgbClr val="1A1F26"/>
                </a:solidFill>
                <a:latin typeface="Calibri"/>
              </a:rPr>
              <a:t>Wireframing</a:t>
            </a:r>
          </a:p>
        </p:txBody>
      </p:sp>
      <p:sp>
        <p:nvSpPr>
          <p:cNvPr id="17" name="Right Arrow 16"/>
          <p:cNvSpPr/>
          <p:nvPr/>
        </p:nvSpPr>
        <p:spPr>
          <a:xfrm>
            <a:off x="6547104" y="5056632"/>
            <a:ext cx="182880" cy="164592"/>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775704" y="4937760"/>
            <a:ext cx="1463040" cy="402336"/>
          </a:xfrm>
          <a:prstGeom prst="roundRect">
            <a:avLst>
              <a:gd name="adj" fmla="val 22000"/>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Aft>
                <a:spcPts val="0"/>
              </a:spcAft>
              <a:buNone/>
            </a:pPr>
            <a:r>
              <a:rPr sz="1300" b="1" i="0">
                <a:solidFill>
                  <a:srgbClr val="1A1F26"/>
                </a:solidFill>
                <a:latin typeface="Calibri"/>
              </a:rPr>
              <a:t>Block model</a:t>
            </a:r>
          </a:p>
        </p:txBody>
      </p:sp>
      <p:sp>
        <p:nvSpPr>
          <p:cNvPr id="19" name="Right Arrow 18"/>
          <p:cNvSpPr/>
          <p:nvPr/>
        </p:nvSpPr>
        <p:spPr>
          <a:xfrm>
            <a:off x="8266175" y="5056632"/>
            <a:ext cx="182880" cy="164592"/>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494776" y="4937760"/>
            <a:ext cx="1325880" cy="402336"/>
          </a:xfrm>
          <a:prstGeom prst="roundRect">
            <a:avLst>
              <a:gd name="adj" fmla="val 22000"/>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Aft>
                <a:spcPts val="0"/>
              </a:spcAft>
              <a:buNone/>
            </a:pPr>
            <a:r>
              <a:rPr sz="1300" b="1" i="0">
                <a:solidFill>
                  <a:srgbClr val="1A1F26"/>
                </a:solidFill>
                <a:latin typeface="Calibri"/>
              </a:rPr>
              <a:t>Pit design</a:t>
            </a:r>
          </a:p>
        </p:txBody>
      </p:sp>
      <p:sp>
        <p:nvSpPr>
          <p:cNvPr id="21" name="TextBox 20"/>
          <p:cNvSpPr txBox="1"/>
          <p:nvPr/>
        </p:nvSpPr>
        <p:spPr>
          <a:xfrm>
            <a:off x="566928" y="5449824"/>
            <a:ext cx="8229600" cy="365760"/>
          </a:xfrm>
          <a:prstGeom prst="rect">
            <a:avLst/>
          </a:prstGeom>
          <a:noFill/>
        </p:spPr>
        <p:txBody>
          <a:bodyPr wrap="square" lIns="18288" tIns="0" rIns="18288" bIns="0" anchor="t">
            <a:spAutoFit/>
          </a:bodyPr>
          <a:lstStyle/>
          <a:p>
            <a:pPr algn="l">
              <a:spcAft>
                <a:spcPts val="0"/>
              </a:spcAft>
              <a:buNone/>
            </a:pPr>
            <a:r>
              <a:rPr sz="1300" b="0" i="1">
                <a:solidFill>
                  <a:srgbClr val="5A6673"/>
                </a:solidFill>
                <a:latin typeface="Calibri"/>
              </a:rPr>
              <a:t>Each handover is a chance for an assumption to go unrecorded</a:t>
            </a:r>
          </a:p>
        </p:txBody>
      </p:sp>
      <p:sp>
        <p:nvSpPr>
          <p:cNvPr id="22" name="Rounded Rectangle 21"/>
          <p:cNvSpPr/>
          <p:nvPr/>
        </p:nvSpPr>
        <p:spPr>
          <a:xfrm>
            <a:off x="6812280" y="2103120"/>
            <a:ext cx="4809744" cy="2432304"/>
          </a:xfrm>
          <a:prstGeom prst="roundRect">
            <a:avLst>
              <a:gd name="adj" fmla="val 6000"/>
            </a:avLst>
          </a:prstGeom>
          <a:solidFill>
            <a:srgbClr val="FDF3E3"/>
          </a:solidFill>
          <a:ln w="12700">
            <a:solidFill>
              <a:srgbClr val="D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022592" y="2286000"/>
            <a:ext cx="4389120" cy="2103120"/>
          </a:xfrm>
          <a:prstGeom prst="rect">
            <a:avLst/>
          </a:prstGeom>
          <a:noFill/>
        </p:spPr>
        <p:txBody>
          <a:bodyPr wrap="square" lIns="18288" tIns="0" rIns="18288" bIns="0" anchor="t">
            <a:spAutoFit/>
          </a:bodyPr>
          <a:lstStyle/>
          <a:p>
            <a:pPr algn="l">
              <a:spcAft>
                <a:spcPts val="900"/>
              </a:spcAft>
              <a:buNone/>
            </a:pPr>
            <a:r>
              <a:rPr sz="1900" b="1" i="0">
                <a:solidFill>
                  <a:srgbClr val="9A5B00"/>
                </a:solidFill>
                <a:latin typeface="Calibri"/>
              </a:rPr>
              <a:t>Where the real risk sits</a:t>
            </a:r>
          </a:p>
          <a:p>
            <a:pPr marL="201168" indent="-164592" algn="l">
              <a:spcAft>
                <a:spcPts val="600"/>
              </a:spcAft>
              <a:buFont typeface="Arial"/>
              <a:buChar char="•"/>
            </a:pPr>
            <a:r>
              <a:rPr sz="1700" b="0" i="0">
                <a:solidFill>
                  <a:srgbClr val="1A1F26"/>
                </a:solidFill>
                <a:latin typeface="Calibri"/>
              </a:rPr>
              <a:t>The ore / waste cutoff grade</a:t>
            </a:r>
          </a:p>
          <a:p>
            <a:pPr marL="201168" indent="-164592" algn="l">
              <a:spcAft>
                <a:spcPts val="600"/>
              </a:spcAft>
              <a:buFont typeface="Arial"/>
              <a:buChar char="•"/>
            </a:pPr>
            <a:r>
              <a:rPr sz="1700" b="0" i="0">
                <a:solidFill>
                  <a:srgbClr val="1A1F26"/>
                </a:solidFill>
                <a:latin typeface="Calibri"/>
              </a:rPr>
              <a:t>The variogram and estimator choice</a:t>
            </a:r>
          </a:p>
          <a:p>
            <a:pPr marL="201168" indent="-164592" algn="l">
              <a:spcAft>
                <a:spcPts val="600"/>
              </a:spcAft>
              <a:buFont typeface="Arial"/>
              <a:buChar char="•"/>
            </a:pPr>
            <a:r>
              <a:rPr sz="1700" b="0" i="0">
                <a:solidFill>
                  <a:srgbClr val="1A1F26"/>
                </a:solidFill>
                <a:latin typeface="Calibri"/>
              </a:rPr>
              <a:t>The pit economics</a:t>
            </a:r>
          </a:p>
          <a:p>
            <a:pPr algn="l">
              <a:lnSpc>
                <a:spcPct val="97000"/>
              </a:lnSpc>
              <a:spcAft>
                <a:spcPts val="0"/>
              </a:spcAft>
              <a:buNone/>
            </a:pPr>
            <a:r>
              <a:rPr sz="1400" b="0" i="1">
                <a:solidFill>
                  <a:srgbClr val="5A6673"/>
                </a:solidFill>
                <a:latin typeface="Calibri"/>
              </a:rPr>
              <a:t>Three judgement calls decide the answer — and they are the three least likely to be written down.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tIns="0" rIns="18288" bIns="0" anchor="t">
            <a:spAutoFit/>
          </a:bodyPr>
          <a:lstStyle/>
          <a:p>
            <a:pPr algn="l">
              <a:spcAft>
                <a:spcPts val="0"/>
              </a:spcAft>
              <a:buNone/>
            </a:pPr>
            <a:r>
              <a:rPr sz="3600" b="1" i="0">
                <a:solidFill>
                  <a:srgbClr val="00B050"/>
                </a:solidFill>
                <a:latin typeface="Calibri"/>
              </a:rPr>
              <a:t>What Ore Body AI Does</a:t>
            </a:r>
          </a:p>
        </p:txBody>
      </p:sp>
      <p:sp>
        <p:nvSpPr>
          <p:cNvPr id="8" name="TextBox 7"/>
          <p:cNvSpPr txBox="1"/>
          <p:nvPr/>
        </p:nvSpPr>
        <p:spPr>
          <a:xfrm>
            <a:off x="384048" y="987552"/>
            <a:ext cx="9601200" cy="457200"/>
          </a:xfrm>
          <a:prstGeom prst="rect">
            <a:avLst/>
          </a:prstGeom>
          <a:noFill/>
        </p:spPr>
        <p:txBody>
          <a:bodyPr wrap="square" lIns="18288" tIns="0" rIns="18288" bIns="0" anchor="t">
            <a:spAutoFit/>
          </a:bodyPr>
          <a:lstStyle/>
          <a:p>
            <a:pPr algn="l">
              <a:spcAft>
                <a:spcPts val="0"/>
              </a:spcAft>
              <a:buNone/>
            </a:pPr>
            <a:r>
              <a:rPr sz="2400" b="1" i="0">
                <a:solidFill>
                  <a:srgbClr val="0070C0"/>
                </a:solidFill>
                <a:latin typeface="Calibri"/>
              </a:rPr>
              <a:t>The whole Surpac open-pit workflow, end to end, in one run</a:t>
            </a:r>
          </a:p>
        </p:txBody>
      </p:sp>
      <p:sp>
        <p:nvSpPr>
          <p:cNvPr id="9" name="Rounded Rectangle 8"/>
          <p:cNvSpPr/>
          <p:nvPr/>
        </p:nvSpPr>
        <p:spPr>
          <a:xfrm>
            <a:off x="548640" y="2103120"/>
            <a:ext cx="1243584" cy="987552"/>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12647" y="2240280"/>
            <a:ext cx="1115568" cy="777240"/>
          </a:xfrm>
          <a:prstGeom prst="rect">
            <a:avLst/>
          </a:prstGeom>
          <a:noFill/>
        </p:spPr>
        <p:txBody>
          <a:bodyPr wrap="square" lIns="18288" tIns="0" rIns="18288" bIns="0" anchor="t">
            <a:spAutoFit/>
          </a:bodyPr>
          <a:lstStyle/>
          <a:p>
            <a:pPr algn="ctr">
              <a:spcAft>
                <a:spcPts val="200"/>
              </a:spcAft>
              <a:buNone/>
            </a:pPr>
            <a:r>
              <a:rPr sz="1600" b="1" i="0">
                <a:solidFill>
                  <a:srgbClr val="176B3A"/>
                </a:solidFill>
                <a:latin typeface="Calibri"/>
              </a:rPr>
              <a:t>Collar</a:t>
            </a:r>
          </a:p>
          <a:p>
            <a:pPr algn="ctr">
              <a:lnSpc>
                <a:spcPct val="95000"/>
              </a:lnSpc>
              <a:spcAft>
                <a:spcPts val="0"/>
              </a:spcAft>
              <a:buNone/>
            </a:pPr>
            <a:r>
              <a:rPr sz="1000" b="0" i="0">
                <a:solidFill>
                  <a:srgbClr val="5A6673"/>
                </a:solidFill>
                <a:latin typeface="Calibri"/>
              </a:rPr>
              <a:t>where each hole starts</a:t>
            </a:r>
          </a:p>
        </p:txBody>
      </p:sp>
      <p:sp>
        <p:nvSpPr>
          <p:cNvPr id="11" name="Rounded Rectangle 10"/>
          <p:cNvSpPr/>
          <p:nvPr/>
        </p:nvSpPr>
        <p:spPr>
          <a:xfrm>
            <a:off x="1920240" y="2103120"/>
            <a:ext cx="1243584" cy="987552"/>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984248" y="2240280"/>
            <a:ext cx="1115568" cy="777240"/>
          </a:xfrm>
          <a:prstGeom prst="rect">
            <a:avLst/>
          </a:prstGeom>
          <a:noFill/>
        </p:spPr>
        <p:txBody>
          <a:bodyPr wrap="square" lIns="18288" tIns="0" rIns="18288" bIns="0" anchor="t">
            <a:spAutoFit/>
          </a:bodyPr>
          <a:lstStyle/>
          <a:p>
            <a:pPr algn="ctr">
              <a:spcAft>
                <a:spcPts val="200"/>
              </a:spcAft>
              <a:buNone/>
            </a:pPr>
            <a:r>
              <a:rPr sz="1600" b="1" i="0">
                <a:solidFill>
                  <a:srgbClr val="176B3A"/>
                </a:solidFill>
                <a:latin typeface="Calibri"/>
              </a:rPr>
              <a:t>Survey</a:t>
            </a:r>
          </a:p>
          <a:p>
            <a:pPr algn="ctr">
              <a:lnSpc>
                <a:spcPct val="95000"/>
              </a:lnSpc>
              <a:spcAft>
                <a:spcPts val="0"/>
              </a:spcAft>
              <a:buNone/>
            </a:pPr>
            <a:r>
              <a:rPr sz="1000" b="0" i="0">
                <a:solidFill>
                  <a:srgbClr val="5A6673"/>
                </a:solidFill>
                <a:latin typeface="Calibri"/>
              </a:rPr>
              <a:t>where it points, by depth</a:t>
            </a:r>
          </a:p>
        </p:txBody>
      </p:sp>
      <p:sp>
        <p:nvSpPr>
          <p:cNvPr id="13" name="Rounded Rectangle 12"/>
          <p:cNvSpPr/>
          <p:nvPr/>
        </p:nvSpPr>
        <p:spPr>
          <a:xfrm>
            <a:off x="3291840" y="2103120"/>
            <a:ext cx="1243584" cy="987552"/>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355848" y="2240280"/>
            <a:ext cx="1115568" cy="777240"/>
          </a:xfrm>
          <a:prstGeom prst="rect">
            <a:avLst/>
          </a:prstGeom>
          <a:noFill/>
        </p:spPr>
        <p:txBody>
          <a:bodyPr wrap="square" lIns="18288" tIns="0" rIns="18288" bIns="0" anchor="t">
            <a:spAutoFit/>
          </a:bodyPr>
          <a:lstStyle/>
          <a:p>
            <a:pPr algn="ctr">
              <a:spcAft>
                <a:spcPts val="200"/>
              </a:spcAft>
              <a:buNone/>
            </a:pPr>
            <a:r>
              <a:rPr sz="1600" b="1" i="0">
                <a:solidFill>
                  <a:srgbClr val="176B3A"/>
                </a:solidFill>
                <a:latin typeface="Calibri"/>
              </a:rPr>
              <a:t>Assay</a:t>
            </a:r>
          </a:p>
          <a:p>
            <a:pPr algn="ctr">
              <a:lnSpc>
                <a:spcPct val="95000"/>
              </a:lnSpc>
              <a:spcAft>
                <a:spcPts val="0"/>
              </a:spcAft>
              <a:buNone/>
            </a:pPr>
            <a:r>
              <a:rPr sz="1000" b="0" i="0">
                <a:solidFill>
                  <a:srgbClr val="5A6673"/>
                </a:solidFill>
                <a:latin typeface="Calibri"/>
              </a:rPr>
              <a:t>what each sample contained</a:t>
            </a:r>
          </a:p>
        </p:txBody>
      </p:sp>
      <p:sp>
        <p:nvSpPr>
          <p:cNvPr id="15" name="Rounded Rectangle 14"/>
          <p:cNvSpPr/>
          <p:nvPr/>
        </p:nvSpPr>
        <p:spPr>
          <a:xfrm>
            <a:off x="4663440" y="2103120"/>
            <a:ext cx="1243584" cy="987552"/>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727448" y="2240280"/>
            <a:ext cx="1115568" cy="777240"/>
          </a:xfrm>
          <a:prstGeom prst="rect">
            <a:avLst/>
          </a:prstGeom>
          <a:noFill/>
        </p:spPr>
        <p:txBody>
          <a:bodyPr wrap="square" lIns="18288" tIns="0" rIns="18288" bIns="0" anchor="t">
            <a:spAutoFit/>
          </a:bodyPr>
          <a:lstStyle/>
          <a:p>
            <a:pPr algn="ctr">
              <a:spcAft>
                <a:spcPts val="200"/>
              </a:spcAft>
              <a:buNone/>
            </a:pPr>
            <a:r>
              <a:rPr sz="1600" b="1" i="0">
                <a:solidFill>
                  <a:srgbClr val="176B3A"/>
                </a:solidFill>
                <a:latin typeface="Calibri"/>
              </a:rPr>
              <a:t>Geology</a:t>
            </a:r>
          </a:p>
          <a:p>
            <a:pPr algn="ctr">
              <a:lnSpc>
                <a:spcPct val="95000"/>
              </a:lnSpc>
              <a:spcAft>
                <a:spcPts val="0"/>
              </a:spcAft>
              <a:buNone/>
            </a:pPr>
            <a:r>
              <a:rPr sz="1000" b="0" i="0">
                <a:solidFill>
                  <a:srgbClr val="5A6673"/>
                </a:solidFill>
                <a:latin typeface="Calibri"/>
              </a:rPr>
              <a:t>what rock was logged</a:t>
            </a:r>
          </a:p>
        </p:txBody>
      </p:sp>
      <p:sp>
        <p:nvSpPr>
          <p:cNvPr id="17" name="TextBox 16"/>
          <p:cNvSpPr txBox="1"/>
          <p:nvPr/>
        </p:nvSpPr>
        <p:spPr>
          <a:xfrm>
            <a:off x="548640" y="3163824"/>
            <a:ext cx="5669280" cy="365760"/>
          </a:xfrm>
          <a:prstGeom prst="rect">
            <a:avLst/>
          </a:prstGeom>
          <a:noFill/>
        </p:spPr>
        <p:txBody>
          <a:bodyPr wrap="square" lIns="18288" tIns="0" rIns="18288" bIns="0" anchor="t">
            <a:spAutoFit/>
          </a:bodyPr>
          <a:lstStyle/>
          <a:p>
            <a:pPr algn="l">
              <a:spcAft>
                <a:spcPts val="0"/>
              </a:spcAft>
              <a:buNone/>
            </a:pPr>
            <a:r>
              <a:rPr sz="1300" b="0" i="1">
                <a:solidFill>
                  <a:srgbClr val="5A6673"/>
                </a:solidFill>
                <a:latin typeface="Calibri"/>
              </a:rPr>
              <a:t>CSV  ·  Excel  ·  WAMEX / GSWA statutory .txt</a:t>
            </a:r>
          </a:p>
        </p:txBody>
      </p:sp>
      <p:sp>
        <p:nvSpPr>
          <p:cNvPr id="18" name="Right Arrow 17"/>
          <p:cNvSpPr/>
          <p:nvPr/>
        </p:nvSpPr>
        <p:spPr>
          <a:xfrm>
            <a:off x="6144768" y="2468880"/>
            <a:ext cx="457200" cy="274320"/>
          </a:xfrm>
          <a:prstGeom prst="rightArrow">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858000" y="2103120"/>
            <a:ext cx="4764024" cy="987552"/>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022592" y="2240280"/>
            <a:ext cx="4434840" cy="804672"/>
          </a:xfrm>
          <a:prstGeom prst="rect">
            <a:avLst/>
          </a:prstGeom>
          <a:noFill/>
        </p:spPr>
        <p:txBody>
          <a:bodyPr wrap="square" lIns="18288" tIns="0" rIns="18288" bIns="0" anchor="t">
            <a:spAutoFit/>
          </a:bodyPr>
          <a:lstStyle/>
          <a:p>
            <a:pPr algn="ctr">
              <a:spcAft>
                <a:spcPts val="200"/>
              </a:spcAft>
              <a:buNone/>
            </a:pPr>
            <a:r>
              <a:rPr sz="1800" b="1" i="0">
                <a:solidFill>
                  <a:srgbClr val="0070C0"/>
                </a:solidFill>
                <a:latin typeface="Calibri"/>
              </a:rPr>
              <a:t>One self-contained HTML report</a:t>
            </a:r>
          </a:p>
          <a:p>
            <a:pPr algn="ctr">
              <a:spcAft>
                <a:spcPts val="0"/>
              </a:spcAft>
              <a:buNone/>
            </a:pPr>
            <a:r>
              <a:rPr sz="1200" b="0" i="0">
                <a:solidFill>
                  <a:srgbClr val="5A6673"/>
                </a:solidFill>
                <a:latin typeface="Calibri"/>
              </a:rPr>
              <a:t>Opens in any browser · no network, no licence, no install</a:t>
            </a:r>
          </a:p>
        </p:txBody>
      </p:sp>
      <p:sp>
        <p:nvSpPr>
          <p:cNvPr id="21" name="TextBox 20"/>
          <p:cNvSpPr txBox="1"/>
          <p:nvPr/>
        </p:nvSpPr>
        <p:spPr>
          <a:xfrm>
            <a:off x="384048" y="3602736"/>
            <a:ext cx="9601200" cy="457200"/>
          </a:xfrm>
          <a:prstGeom prst="rect">
            <a:avLst/>
          </a:prstGeom>
          <a:noFill/>
        </p:spPr>
        <p:txBody>
          <a:bodyPr wrap="square" lIns="18288" tIns="0" rIns="18288" bIns="0" anchor="t">
            <a:spAutoFit/>
          </a:bodyPr>
          <a:lstStyle/>
          <a:p>
            <a:pPr algn="l">
              <a:spcAft>
                <a:spcPts val="0"/>
              </a:spcAft>
              <a:buNone/>
            </a:pPr>
            <a:r>
              <a:rPr sz="2200" b="1" i="0">
                <a:solidFill>
                  <a:srgbClr val="0070C0"/>
                </a:solidFill>
                <a:latin typeface="Calibri"/>
              </a:rPr>
              <a:t>What comes out</a:t>
            </a:r>
          </a:p>
        </p:txBody>
      </p:sp>
      <p:sp>
        <p:nvSpPr>
          <p:cNvPr id="22" name="TextBox 21"/>
          <p:cNvSpPr txBox="1"/>
          <p:nvPr/>
        </p:nvSpPr>
        <p:spPr>
          <a:xfrm>
            <a:off x="548640" y="4114800"/>
            <a:ext cx="5394960" cy="2103120"/>
          </a:xfrm>
          <a:prstGeom prst="rect">
            <a:avLst/>
          </a:prstGeom>
          <a:noFill/>
        </p:spPr>
        <p:txBody>
          <a:bodyPr wrap="square" lIns="18288" tIns="0" rIns="18288" bIns="0" anchor="t">
            <a:spAutoFit/>
          </a:bodyPr>
          <a:lstStyle/>
          <a:p>
            <a:pPr marL="201168" indent="-164592" algn="l">
              <a:lnSpc>
                <a:spcPct val="100000"/>
              </a:lnSpc>
              <a:spcAft>
                <a:spcPts val="1200"/>
              </a:spcAft>
              <a:buFont typeface="Arial"/>
              <a:buChar char="•"/>
            </a:pPr>
            <a:r>
              <a:rPr sz="1800" b="0" i="0">
                <a:solidFill>
                  <a:srgbClr val="1A1F26"/>
                </a:solidFill>
                <a:latin typeface="Calibri"/>
              </a:rPr>
              <a:t>Desurveyed holes and composited, top-cut assays</a:t>
            </a:r>
          </a:p>
          <a:p>
            <a:pPr marL="201168" indent="-164592" algn="l">
              <a:lnSpc>
                <a:spcPct val="100000"/>
              </a:lnSpc>
              <a:spcAft>
                <a:spcPts val="1200"/>
              </a:spcAft>
              <a:buFont typeface="Arial"/>
              <a:buChar char="•"/>
            </a:pPr>
            <a:r>
              <a:rPr sz="1800" b="0" i="0">
                <a:solidFill>
                  <a:srgbClr val="1A1F26"/>
                </a:solidFill>
                <a:latin typeface="Calibri"/>
              </a:rPr>
              <a:t>A validated, watertight 3D orebody wireframe</a:t>
            </a:r>
          </a:p>
          <a:p>
            <a:pPr marL="201168" indent="-164592" algn="l">
              <a:lnSpc>
                <a:spcPct val="100000"/>
              </a:lnSpc>
              <a:spcAft>
                <a:spcPts val="1200"/>
              </a:spcAft>
              <a:buFont typeface="Arial"/>
              <a:buChar char="•"/>
            </a:pPr>
            <a:r>
              <a:rPr sz="1800" b="0" i="0">
                <a:solidFill>
                  <a:srgbClr val="1A1F26"/>
                </a:solidFill>
                <a:latin typeface="Calibri"/>
              </a:rPr>
              <a:t>A kriged block model with an uncertainty per block</a:t>
            </a:r>
          </a:p>
          <a:p>
            <a:pPr marL="201168" indent="-164592" algn="l">
              <a:lnSpc>
                <a:spcPct val="100000"/>
              </a:lnSpc>
              <a:spcAft>
                <a:spcPts val="1200"/>
              </a:spcAft>
              <a:buFont typeface="Arial"/>
              <a:buChar char="•"/>
            </a:pPr>
            <a:r>
              <a:rPr sz="1800" b="0" i="0">
                <a:solidFill>
                  <a:srgbClr val="1A1F26"/>
                </a:solidFill>
                <a:latin typeface="Calibri"/>
              </a:rPr>
              <a:t>The true optimal ultimate pit, by maximum closure</a:t>
            </a:r>
          </a:p>
        </p:txBody>
      </p:sp>
      <p:sp>
        <p:nvSpPr>
          <p:cNvPr id="23" name="TextBox 22"/>
          <p:cNvSpPr txBox="1"/>
          <p:nvPr/>
        </p:nvSpPr>
        <p:spPr>
          <a:xfrm>
            <a:off x="6172200" y="4114800"/>
            <a:ext cx="5394960" cy="2103120"/>
          </a:xfrm>
          <a:prstGeom prst="rect">
            <a:avLst/>
          </a:prstGeom>
          <a:noFill/>
        </p:spPr>
        <p:txBody>
          <a:bodyPr wrap="square" lIns="18288" tIns="0" rIns="18288" bIns="0" anchor="t">
            <a:spAutoFit/>
          </a:bodyPr>
          <a:lstStyle/>
          <a:p>
            <a:pPr marL="201168" indent="-164592" algn="l">
              <a:lnSpc>
                <a:spcPct val="100000"/>
              </a:lnSpc>
              <a:spcAft>
                <a:spcPts val="1200"/>
              </a:spcAft>
              <a:buFont typeface="Arial"/>
              <a:buChar char="•"/>
            </a:pPr>
            <a:r>
              <a:rPr sz="1800" b="0" i="0">
                <a:solidFill>
                  <a:srgbClr val="1A1F26"/>
                </a:solidFill>
                <a:latin typeface="Calibri"/>
              </a:rPr>
              <a:t>A bench-by-bench mining schedule</a:t>
            </a:r>
          </a:p>
          <a:p>
            <a:pPr marL="201168" indent="-164592" algn="l">
              <a:lnSpc>
                <a:spcPct val="100000"/>
              </a:lnSpc>
              <a:spcAft>
                <a:spcPts val="1200"/>
              </a:spcAft>
              <a:buFont typeface="Arial"/>
              <a:buChar char="•"/>
            </a:pPr>
            <a:r>
              <a:rPr sz="1800" b="0" i="0">
                <a:solidFill>
                  <a:srgbClr val="1A1F26"/>
                </a:solidFill>
                <a:latin typeface="Calibri"/>
              </a:rPr>
              <a:t>An orbitable 3D scene with every layer toggleable</a:t>
            </a:r>
          </a:p>
          <a:p>
            <a:pPr marL="201168" indent="-164592" algn="l">
              <a:lnSpc>
                <a:spcPct val="100000"/>
              </a:lnSpc>
              <a:spcAft>
                <a:spcPts val="1200"/>
              </a:spcAft>
              <a:buFont typeface="Arial"/>
              <a:buChar char="•"/>
            </a:pPr>
            <a:r>
              <a:rPr sz="1800" b="0" i="0">
                <a:solidFill>
                  <a:srgbClr val="1A1F26"/>
                </a:solidFill>
                <a:latin typeface="Calibri"/>
              </a:rPr>
              <a:t>Grade-tonnage, variogram and price-sensitivity charts</a:t>
            </a:r>
          </a:p>
          <a:p>
            <a:pPr marL="201168" indent="-164592" algn="l">
              <a:lnSpc>
                <a:spcPct val="100000"/>
              </a:lnSpc>
              <a:spcAft>
                <a:spcPts val="1200"/>
              </a:spcAft>
              <a:buFont typeface="Arial"/>
              <a:buChar char="•"/>
            </a:pPr>
            <a:r>
              <a:rPr sz="1800" b="0" i="0">
                <a:solidFill>
                  <a:srgbClr val="1A1F26"/>
                </a:solidFill>
                <a:latin typeface="Calibri"/>
              </a:rPr>
              <a:t>Every economic assumption labelled at its source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tIns="0" rIns="18288" bIns="0" anchor="t">
            <a:spAutoFit/>
          </a:bodyPr>
          <a:lstStyle/>
          <a:p>
            <a:pPr algn="l">
              <a:spcAft>
                <a:spcPts val="0"/>
              </a:spcAft>
              <a:buNone/>
            </a:pPr>
            <a:r>
              <a:rPr sz="3600" b="1" i="0">
                <a:solidFill>
                  <a:srgbClr val="00B050"/>
                </a:solidFill>
                <a:latin typeface="Calibri"/>
              </a:rPr>
              <a:t>System Architecture</a:t>
            </a:r>
          </a:p>
        </p:txBody>
      </p:sp>
      <p:sp>
        <p:nvSpPr>
          <p:cNvPr id="8" name="TextBox 7"/>
          <p:cNvSpPr txBox="1"/>
          <p:nvPr/>
        </p:nvSpPr>
        <p:spPr>
          <a:xfrm>
            <a:off x="384048" y="987552"/>
            <a:ext cx="9601200" cy="457200"/>
          </a:xfrm>
          <a:prstGeom prst="rect">
            <a:avLst/>
          </a:prstGeom>
          <a:noFill/>
        </p:spPr>
        <p:txBody>
          <a:bodyPr wrap="square" lIns="18288" tIns="0" rIns="18288" bIns="0" anchor="t">
            <a:spAutoFit/>
          </a:bodyPr>
          <a:lstStyle/>
          <a:p>
            <a:pPr algn="l">
              <a:spcAft>
                <a:spcPts val="0"/>
              </a:spcAft>
              <a:buNone/>
            </a:pPr>
            <a:r>
              <a:rPr sz="2400" b="1" i="0">
                <a:solidFill>
                  <a:srgbClr val="0070C0"/>
                </a:solidFill>
                <a:latin typeface="Calibri"/>
              </a:rPr>
              <a:t>Fifteen stages, one orchestrator, five deterministic compute packages</a:t>
            </a:r>
          </a:p>
        </p:txBody>
      </p:sp>
      <p:sp>
        <p:nvSpPr>
          <p:cNvPr id="9" name="Rounded Rectangle 8"/>
          <p:cNvSpPr/>
          <p:nvPr/>
        </p:nvSpPr>
        <p:spPr>
          <a:xfrm>
            <a:off x="530352" y="2084831"/>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76072" y="2148839"/>
            <a:ext cx="1207007" cy="713232"/>
          </a:xfrm>
          <a:prstGeom prst="rect">
            <a:avLst/>
          </a:prstGeom>
          <a:noFill/>
        </p:spPr>
        <p:txBody>
          <a:bodyPr wrap="square" lIns="18288" tIns="0" rIns="18288" bIns="0" anchor="t">
            <a:spAutoFit/>
          </a:bodyPr>
          <a:lstStyle/>
          <a:p>
            <a:pPr algn="ctr">
              <a:spcAft>
                <a:spcPts val="100"/>
              </a:spcAft>
              <a:buNone/>
            </a:pPr>
            <a:r>
              <a:rPr sz="1100" b="1" i="0">
                <a:solidFill>
                  <a:srgbClr val="5A6673"/>
                </a:solidFill>
                <a:latin typeface="Calibri"/>
              </a:rPr>
              <a:t>1</a:t>
            </a:r>
          </a:p>
          <a:p>
            <a:pPr algn="ctr">
              <a:lnSpc>
                <a:spcPct val="92000"/>
              </a:lnSpc>
              <a:spcAft>
                <a:spcPts val="0"/>
              </a:spcAft>
              <a:buNone/>
            </a:pPr>
            <a:r>
              <a:rPr sz="1250" b="1" i="0">
                <a:solidFill>
                  <a:srgbClr val="1A1F26"/>
                </a:solidFill>
                <a:latin typeface="Calibri"/>
              </a:rPr>
              <a:t>Ingest &amp;</a:t>
            </a:r>
          </a:p>
          <a:p>
            <a:pPr algn="ctr">
              <a:lnSpc>
                <a:spcPct val="92000"/>
              </a:lnSpc>
              <a:spcAft>
                <a:spcPts val="0"/>
              </a:spcAft>
              <a:buNone/>
            </a:pPr>
            <a:r>
              <a:rPr sz="1250" b="1" i="0">
                <a:solidFill>
                  <a:srgbClr val="1A1F26"/>
                </a:solidFill>
                <a:latin typeface="Calibri"/>
              </a:rPr>
              <a:t>validate</a:t>
            </a:r>
          </a:p>
        </p:txBody>
      </p:sp>
      <p:sp>
        <p:nvSpPr>
          <p:cNvPr id="11" name="Right Arrow 10"/>
          <p:cNvSpPr/>
          <p:nvPr/>
        </p:nvSpPr>
        <p:spPr>
          <a:xfrm>
            <a:off x="1837943" y="2432304"/>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970531" y="2084831"/>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2016251" y="2148839"/>
            <a:ext cx="1207007" cy="713232"/>
          </a:xfrm>
          <a:prstGeom prst="rect">
            <a:avLst/>
          </a:prstGeom>
          <a:noFill/>
        </p:spPr>
        <p:txBody>
          <a:bodyPr wrap="square" lIns="18288" tIns="0" rIns="18288" bIns="0" anchor="t">
            <a:spAutoFit/>
          </a:bodyPr>
          <a:lstStyle/>
          <a:p>
            <a:pPr algn="ctr">
              <a:spcAft>
                <a:spcPts val="100"/>
              </a:spcAft>
              <a:buNone/>
            </a:pPr>
            <a:r>
              <a:rPr sz="1100" b="1" i="0">
                <a:solidFill>
                  <a:srgbClr val="5A6673"/>
                </a:solidFill>
                <a:latin typeface="Calibri"/>
              </a:rPr>
              <a:t>2</a:t>
            </a:r>
          </a:p>
          <a:p>
            <a:pPr algn="ctr">
              <a:lnSpc>
                <a:spcPct val="92000"/>
              </a:lnSpc>
              <a:spcAft>
                <a:spcPts val="0"/>
              </a:spcAft>
              <a:buNone/>
            </a:pPr>
            <a:r>
              <a:rPr sz="1250" b="1" i="0">
                <a:solidFill>
                  <a:srgbClr val="1A1F26"/>
                </a:solidFill>
                <a:latin typeface="Calibri"/>
              </a:rPr>
              <a:t>Desurvey</a:t>
            </a:r>
          </a:p>
          <a:p>
            <a:pPr algn="ctr">
              <a:lnSpc>
                <a:spcPct val="92000"/>
              </a:lnSpc>
              <a:spcAft>
                <a:spcPts val="0"/>
              </a:spcAft>
              <a:buNone/>
            </a:pPr>
            <a:r>
              <a:rPr sz="1250" b="1" i="0">
                <a:solidFill>
                  <a:srgbClr val="1A1F26"/>
                </a:solidFill>
                <a:latin typeface="Calibri"/>
              </a:rPr>
              <a:t>holes</a:t>
            </a:r>
          </a:p>
        </p:txBody>
      </p:sp>
      <p:sp>
        <p:nvSpPr>
          <p:cNvPr id="14" name="Right Arrow 13"/>
          <p:cNvSpPr/>
          <p:nvPr/>
        </p:nvSpPr>
        <p:spPr>
          <a:xfrm>
            <a:off x="3278123" y="2432304"/>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10711" y="2084831"/>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3456431" y="2148839"/>
            <a:ext cx="1207007" cy="713232"/>
          </a:xfrm>
          <a:prstGeom prst="rect">
            <a:avLst/>
          </a:prstGeom>
          <a:noFill/>
        </p:spPr>
        <p:txBody>
          <a:bodyPr wrap="square" lIns="18288" tIns="0" rIns="18288" bIns="0" anchor="t">
            <a:spAutoFit/>
          </a:bodyPr>
          <a:lstStyle/>
          <a:p>
            <a:pPr algn="ctr">
              <a:spcAft>
                <a:spcPts val="100"/>
              </a:spcAft>
              <a:buNone/>
            </a:pPr>
            <a:r>
              <a:rPr sz="1100" b="1" i="0">
                <a:solidFill>
                  <a:srgbClr val="5A6673"/>
                </a:solidFill>
                <a:latin typeface="Calibri"/>
              </a:rPr>
              <a:t>3</a:t>
            </a:r>
          </a:p>
          <a:p>
            <a:pPr algn="ctr">
              <a:lnSpc>
                <a:spcPct val="92000"/>
              </a:lnSpc>
              <a:spcAft>
                <a:spcPts val="0"/>
              </a:spcAft>
              <a:buNone/>
            </a:pPr>
            <a:r>
              <a:rPr sz="1250" b="1" i="0">
                <a:solidFill>
                  <a:srgbClr val="1A1F26"/>
                </a:solidFill>
                <a:latin typeface="Calibri"/>
              </a:rPr>
              <a:t>Composite</a:t>
            </a:r>
          </a:p>
          <a:p>
            <a:pPr algn="ctr">
              <a:lnSpc>
                <a:spcPct val="92000"/>
              </a:lnSpc>
              <a:spcAft>
                <a:spcPts val="0"/>
              </a:spcAft>
              <a:buNone/>
            </a:pPr>
            <a:r>
              <a:rPr sz="1250" b="1" i="0">
                <a:solidFill>
                  <a:srgbClr val="1A1F26"/>
                </a:solidFill>
                <a:latin typeface="Calibri"/>
              </a:rPr>
              <a:t>&amp; top cut</a:t>
            </a:r>
          </a:p>
        </p:txBody>
      </p:sp>
      <p:sp>
        <p:nvSpPr>
          <p:cNvPr id="17" name="Right Arrow 16"/>
          <p:cNvSpPr/>
          <p:nvPr/>
        </p:nvSpPr>
        <p:spPr>
          <a:xfrm>
            <a:off x="4718303" y="2432304"/>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850892" y="2084831"/>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896612" y="2148839"/>
            <a:ext cx="1207007" cy="713232"/>
          </a:xfrm>
          <a:prstGeom prst="rect">
            <a:avLst/>
          </a:prstGeom>
          <a:noFill/>
        </p:spPr>
        <p:txBody>
          <a:bodyPr wrap="square" lIns="18288" tIns="0" rIns="18288" bIns="0" anchor="t">
            <a:spAutoFit/>
          </a:bodyPr>
          <a:lstStyle/>
          <a:p>
            <a:pPr algn="ctr">
              <a:spcAft>
                <a:spcPts val="100"/>
              </a:spcAft>
              <a:buNone/>
            </a:pPr>
            <a:r>
              <a:rPr sz="1100" b="1" i="0">
                <a:solidFill>
                  <a:srgbClr val="5A6673"/>
                </a:solidFill>
                <a:latin typeface="Calibri"/>
              </a:rPr>
              <a:t>4</a:t>
            </a:r>
          </a:p>
          <a:p>
            <a:pPr algn="ctr">
              <a:lnSpc>
                <a:spcPct val="92000"/>
              </a:lnSpc>
              <a:spcAft>
                <a:spcPts val="0"/>
              </a:spcAft>
              <a:buNone/>
            </a:pPr>
            <a:r>
              <a:rPr sz="1250" b="1" i="0">
                <a:solidFill>
                  <a:srgbClr val="1A1F26"/>
                </a:solidFill>
                <a:latin typeface="Calibri"/>
              </a:rPr>
              <a:t>Variography</a:t>
            </a:r>
          </a:p>
        </p:txBody>
      </p:sp>
      <p:sp>
        <p:nvSpPr>
          <p:cNvPr id="20" name="Right Arrow 19"/>
          <p:cNvSpPr/>
          <p:nvPr/>
        </p:nvSpPr>
        <p:spPr>
          <a:xfrm>
            <a:off x="6158483" y="2432304"/>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91072" y="2084831"/>
            <a:ext cx="1298448" cy="822960"/>
          </a:xfrm>
          <a:prstGeom prst="roundRect">
            <a:avLst>
              <a:gd name="adj" fmla="val 6000"/>
            </a:avLst>
          </a:prstGeom>
          <a:solidFill>
            <a:srgbClr val="FDF3E3"/>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336792" y="2148839"/>
            <a:ext cx="1207007" cy="713232"/>
          </a:xfrm>
          <a:prstGeom prst="rect">
            <a:avLst/>
          </a:prstGeom>
          <a:noFill/>
        </p:spPr>
        <p:txBody>
          <a:bodyPr wrap="square" lIns="18288" tIns="0" rIns="18288" bIns="0" anchor="t">
            <a:spAutoFit/>
          </a:bodyPr>
          <a:lstStyle/>
          <a:p>
            <a:pPr algn="ctr">
              <a:spcAft>
                <a:spcPts val="100"/>
              </a:spcAft>
              <a:buNone/>
            </a:pPr>
            <a:r>
              <a:rPr sz="1100" b="1" i="0">
                <a:solidFill>
                  <a:srgbClr val="5A6673"/>
                </a:solidFill>
                <a:latin typeface="Calibri"/>
              </a:rPr>
              <a:t>5</a:t>
            </a:r>
          </a:p>
          <a:p>
            <a:pPr algn="ctr">
              <a:lnSpc>
                <a:spcPct val="92000"/>
              </a:lnSpc>
              <a:spcAft>
                <a:spcPts val="0"/>
              </a:spcAft>
              <a:buNone/>
            </a:pPr>
            <a:r>
              <a:rPr sz="1250" b="1" i="0">
                <a:solidFill>
                  <a:srgbClr val="1A1F26"/>
                </a:solidFill>
                <a:latin typeface="Calibri"/>
              </a:rPr>
              <a:t>Cutoff &amp;</a:t>
            </a:r>
          </a:p>
          <a:p>
            <a:pPr algn="ctr">
              <a:lnSpc>
                <a:spcPct val="92000"/>
              </a:lnSpc>
              <a:spcAft>
                <a:spcPts val="0"/>
              </a:spcAft>
              <a:buNone/>
            </a:pPr>
            <a:r>
              <a:rPr sz="1250" b="1" i="0">
                <a:solidFill>
                  <a:srgbClr val="1A1F26"/>
                </a:solidFill>
                <a:latin typeface="Calibri"/>
              </a:rPr>
              <a:t>domaining</a:t>
            </a:r>
          </a:p>
        </p:txBody>
      </p:sp>
      <p:sp>
        <p:nvSpPr>
          <p:cNvPr id="23" name="Right Arrow 22"/>
          <p:cNvSpPr/>
          <p:nvPr/>
        </p:nvSpPr>
        <p:spPr>
          <a:xfrm>
            <a:off x="7598664" y="2432304"/>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731252" y="2084831"/>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776972" y="2148839"/>
            <a:ext cx="1207007" cy="713232"/>
          </a:xfrm>
          <a:prstGeom prst="rect">
            <a:avLst/>
          </a:prstGeom>
          <a:noFill/>
        </p:spPr>
        <p:txBody>
          <a:bodyPr wrap="square" lIns="18288" tIns="0" rIns="18288" bIns="0" anchor="t">
            <a:spAutoFit/>
          </a:bodyPr>
          <a:lstStyle/>
          <a:p>
            <a:pPr algn="ctr">
              <a:spcAft>
                <a:spcPts val="100"/>
              </a:spcAft>
              <a:buNone/>
            </a:pPr>
            <a:r>
              <a:rPr sz="1100" b="1" i="0">
                <a:solidFill>
                  <a:srgbClr val="5A6673"/>
                </a:solidFill>
                <a:latin typeface="Calibri"/>
              </a:rPr>
              <a:t>6</a:t>
            </a:r>
          </a:p>
          <a:p>
            <a:pPr algn="ctr">
              <a:lnSpc>
                <a:spcPct val="92000"/>
              </a:lnSpc>
              <a:spcAft>
                <a:spcPts val="0"/>
              </a:spcAft>
              <a:buNone/>
            </a:pPr>
            <a:r>
              <a:rPr sz="1250" b="1" i="0">
                <a:solidFill>
                  <a:srgbClr val="1A1F26"/>
                </a:solidFill>
                <a:latin typeface="Calibri"/>
              </a:rPr>
              <a:t>Orebody</a:t>
            </a:r>
          </a:p>
          <a:p>
            <a:pPr algn="ctr">
              <a:lnSpc>
                <a:spcPct val="92000"/>
              </a:lnSpc>
              <a:spcAft>
                <a:spcPts val="0"/>
              </a:spcAft>
              <a:buNone/>
            </a:pPr>
            <a:r>
              <a:rPr sz="1250" b="1" i="0">
                <a:solidFill>
                  <a:srgbClr val="1A1F26"/>
                </a:solidFill>
                <a:latin typeface="Calibri"/>
              </a:rPr>
              <a:t>solid</a:t>
            </a:r>
          </a:p>
        </p:txBody>
      </p:sp>
      <p:sp>
        <p:nvSpPr>
          <p:cNvPr id="26" name="Right Arrow 25"/>
          <p:cNvSpPr/>
          <p:nvPr/>
        </p:nvSpPr>
        <p:spPr>
          <a:xfrm>
            <a:off x="9038844" y="2432304"/>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171432" y="2084831"/>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217152" y="2148839"/>
            <a:ext cx="1207007" cy="713232"/>
          </a:xfrm>
          <a:prstGeom prst="rect">
            <a:avLst/>
          </a:prstGeom>
          <a:noFill/>
        </p:spPr>
        <p:txBody>
          <a:bodyPr wrap="square" lIns="18288" tIns="0" rIns="18288" bIns="0" anchor="t">
            <a:spAutoFit/>
          </a:bodyPr>
          <a:lstStyle/>
          <a:p>
            <a:pPr algn="ctr">
              <a:spcAft>
                <a:spcPts val="100"/>
              </a:spcAft>
              <a:buNone/>
            </a:pPr>
            <a:r>
              <a:rPr sz="1100" b="1" i="0">
                <a:solidFill>
                  <a:srgbClr val="5A6673"/>
                </a:solidFill>
                <a:latin typeface="Calibri"/>
              </a:rPr>
              <a:t>7</a:t>
            </a:r>
          </a:p>
          <a:p>
            <a:pPr algn="ctr">
              <a:lnSpc>
                <a:spcPct val="92000"/>
              </a:lnSpc>
              <a:spcAft>
                <a:spcPts val="0"/>
              </a:spcAft>
              <a:buNone/>
            </a:pPr>
            <a:r>
              <a:rPr sz="1250" b="1" i="0">
                <a:solidFill>
                  <a:srgbClr val="1A1F26"/>
                </a:solidFill>
                <a:latin typeface="Calibri"/>
              </a:rPr>
              <a:t>Block grid</a:t>
            </a:r>
          </a:p>
          <a:p>
            <a:pPr algn="ctr">
              <a:lnSpc>
                <a:spcPct val="92000"/>
              </a:lnSpc>
              <a:spcAft>
                <a:spcPts val="0"/>
              </a:spcAft>
              <a:buNone/>
            </a:pPr>
            <a:r>
              <a:rPr sz="1250" b="1" i="0">
                <a:solidFill>
                  <a:srgbClr val="1A1F26"/>
                </a:solidFill>
                <a:latin typeface="Calibri"/>
              </a:rPr>
              <a:t>&amp; kriging</a:t>
            </a:r>
          </a:p>
        </p:txBody>
      </p:sp>
      <p:sp>
        <p:nvSpPr>
          <p:cNvPr id="29" name="Right Arrow 28"/>
          <p:cNvSpPr/>
          <p:nvPr/>
        </p:nvSpPr>
        <p:spPr>
          <a:xfrm>
            <a:off x="10479024" y="2432304"/>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10611611" y="2084831"/>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10657332" y="2148839"/>
            <a:ext cx="1207007" cy="713232"/>
          </a:xfrm>
          <a:prstGeom prst="rect">
            <a:avLst/>
          </a:prstGeom>
          <a:noFill/>
        </p:spPr>
        <p:txBody>
          <a:bodyPr wrap="square" lIns="18288" tIns="0" rIns="18288" bIns="0" anchor="t">
            <a:spAutoFit/>
          </a:bodyPr>
          <a:lstStyle/>
          <a:p>
            <a:pPr algn="ctr">
              <a:spcAft>
                <a:spcPts val="100"/>
              </a:spcAft>
              <a:buNone/>
            </a:pPr>
            <a:r>
              <a:rPr sz="1100" b="1" i="0">
                <a:solidFill>
                  <a:srgbClr val="5A6673"/>
                </a:solidFill>
                <a:latin typeface="Calibri"/>
              </a:rPr>
              <a:t>8</a:t>
            </a:r>
          </a:p>
          <a:p>
            <a:pPr algn="ctr">
              <a:lnSpc>
                <a:spcPct val="92000"/>
              </a:lnSpc>
              <a:spcAft>
                <a:spcPts val="0"/>
              </a:spcAft>
              <a:buNone/>
            </a:pPr>
            <a:r>
              <a:rPr sz="1250" b="1" i="0">
                <a:solidFill>
                  <a:srgbClr val="1A1F26"/>
                </a:solidFill>
                <a:latin typeface="Calibri"/>
              </a:rPr>
              <a:t>Tonnage</a:t>
            </a:r>
          </a:p>
        </p:txBody>
      </p:sp>
      <p:sp>
        <p:nvSpPr>
          <p:cNvPr id="32" name="Rounded Rectangle 31"/>
          <p:cNvSpPr/>
          <p:nvPr/>
        </p:nvSpPr>
        <p:spPr>
          <a:xfrm>
            <a:off x="530352" y="3054096"/>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576072" y="3118103"/>
            <a:ext cx="1207007" cy="713232"/>
          </a:xfrm>
          <a:prstGeom prst="rect">
            <a:avLst/>
          </a:prstGeom>
          <a:noFill/>
        </p:spPr>
        <p:txBody>
          <a:bodyPr wrap="square" lIns="18288" tIns="0" rIns="18288" bIns="0" anchor="t">
            <a:spAutoFit/>
          </a:bodyPr>
          <a:lstStyle/>
          <a:p>
            <a:pPr algn="ctr">
              <a:spcAft>
                <a:spcPts val="100"/>
              </a:spcAft>
              <a:buNone/>
            </a:pPr>
            <a:r>
              <a:rPr sz="1100" b="1" i="0">
                <a:solidFill>
                  <a:srgbClr val="5A6673"/>
                </a:solidFill>
                <a:latin typeface="Calibri"/>
              </a:rPr>
              <a:t>9</a:t>
            </a:r>
          </a:p>
          <a:p>
            <a:pPr algn="ctr">
              <a:lnSpc>
                <a:spcPct val="92000"/>
              </a:lnSpc>
              <a:spcAft>
                <a:spcPts val="0"/>
              </a:spcAft>
              <a:buNone/>
            </a:pPr>
            <a:r>
              <a:rPr sz="1250" b="1" i="0">
                <a:solidFill>
                  <a:srgbClr val="1A1F26"/>
                </a:solidFill>
                <a:latin typeface="Calibri"/>
              </a:rPr>
              <a:t>Cross-</a:t>
            </a:r>
          </a:p>
          <a:p>
            <a:pPr algn="ctr">
              <a:lnSpc>
                <a:spcPct val="92000"/>
              </a:lnSpc>
              <a:spcAft>
                <a:spcPts val="0"/>
              </a:spcAft>
              <a:buNone/>
            </a:pPr>
            <a:r>
              <a:rPr sz="1250" b="1" i="0">
                <a:solidFill>
                  <a:srgbClr val="1A1F26"/>
                </a:solidFill>
                <a:latin typeface="Calibri"/>
              </a:rPr>
              <a:t>validation</a:t>
            </a:r>
          </a:p>
        </p:txBody>
      </p:sp>
      <p:sp>
        <p:nvSpPr>
          <p:cNvPr id="34" name="Right Arrow 33"/>
          <p:cNvSpPr/>
          <p:nvPr/>
        </p:nvSpPr>
        <p:spPr>
          <a:xfrm>
            <a:off x="1837943" y="3401568"/>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970531" y="3054096"/>
            <a:ext cx="1298448" cy="822960"/>
          </a:xfrm>
          <a:prstGeom prst="roundRect">
            <a:avLst>
              <a:gd name="adj" fmla="val 6000"/>
            </a:avLst>
          </a:prstGeom>
          <a:solidFill>
            <a:srgbClr val="E6F7F5"/>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2016251" y="3118103"/>
            <a:ext cx="1207007" cy="713232"/>
          </a:xfrm>
          <a:prstGeom prst="rect">
            <a:avLst/>
          </a:prstGeom>
          <a:noFill/>
        </p:spPr>
        <p:txBody>
          <a:bodyPr wrap="square" lIns="18288" tIns="0" rIns="18288" bIns="0" anchor="t">
            <a:spAutoFit/>
          </a:bodyPr>
          <a:lstStyle/>
          <a:p>
            <a:pPr algn="ctr">
              <a:spcAft>
                <a:spcPts val="100"/>
              </a:spcAft>
              <a:buNone/>
            </a:pPr>
            <a:r>
              <a:rPr sz="1100" b="1" i="0">
                <a:solidFill>
                  <a:srgbClr val="5A6673"/>
                </a:solidFill>
                <a:latin typeface="Calibri"/>
              </a:rPr>
              <a:t>10</a:t>
            </a:r>
          </a:p>
          <a:p>
            <a:pPr algn="ctr">
              <a:lnSpc>
                <a:spcPct val="92000"/>
              </a:lnSpc>
              <a:spcAft>
                <a:spcPts val="0"/>
              </a:spcAft>
              <a:buNone/>
            </a:pPr>
            <a:r>
              <a:rPr sz="1250" b="1" i="0">
                <a:solidFill>
                  <a:srgbClr val="1A1F26"/>
                </a:solidFill>
                <a:latin typeface="Calibri"/>
              </a:rPr>
              <a:t>GemPy</a:t>
            </a:r>
          </a:p>
          <a:p>
            <a:pPr algn="ctr">
              <a:lnSpc>
                <a:spcPct val="92000"/>
              </a:lnSpc>
              <a:spcAft>
                <a:spcPts val="0"/>
              </a:spcAft>
              <a:buNone/>
            </a:pPr>
            <a:r>
              <a:rPr sz="1250" b="1" i="0">
                <a:solidFill>
                  <a:srgbClr val="1A1F26"/>
                </a:solidFill>
                <a:latin typeface="Calibri"/>
              </a:rPr>
              <a:t>implicit</a:t>
            </a:r>
          </a:p>
        </p:txBody>
      </p:sp>
      <p:sp>
        <p:nvSpPr>
          <p:cNvPr id="37" name="Right Arrow 36"/>
          <p:cNvSpPr/>
          <p:nvPr/>
        </p:nvSpPr>
        <p:spPr>
          <a:xfrm>
            <a:off x="3278123" y="3401568"/>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3410711" y="3054096"/>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3456431" y="3118103"/>
            <a:ext cx="1207007" cy="713232"/>
          </a:xfrm>
          <a:prstGeom prst="rect">
            <a:avLst/>
          </a:prstGeom>
          <a:noFill/>
        </p:spPr>
        <p:txBody>
          <a:bodyPr wrap="square" lIns="18288" tIns="0" rIns="18288" bIns="0" anchor="t">
            <a:spAutoFit/>
          </a:bodyPr>
          <a:lstStyle/>
          <a:p>
            <a:pPr algn="ctr">
              <a:spcAft>
                <a:spcPts val="100"/>
              </a:spcAft>
              <a:buNone/>
            </a:pPr>
            <a:r>
              <a:rPr sz="1100" b="1" i="0">
                <a:solidFill>
                  <a:srgbClr val="5A6673"/>
                </a:solidFill>
                <a:latin typeface="Calibri"/>
              </a:rPr>
              <a:t>11</a:t>
            </a:r>
          </a:p>
          <a:p>
            <a:pPr algn="ctr">
              <a:lnSpc>
                <a:spcPct val="92000"/>
              </a:lnSpc>
              <a:spcAft>
                <a:spcPts val="0"/>
              </a:spcAft>
              <a:buNone/>
            </a:pPr>
            <a:r>
              <a:rPr sz="1250" b="1" i="0">
                <a:solidFill>
                  <a:srgbClr val="1A1F26"/>
                </a:solidFill>
                <a:latin typeface="Calibri"/>
              </a:rPr>
              <a:t>Preliminary</a:t>
            </a:r>
          </a:p>
          <a:p>
            <a:pPr algn="ctr">
              <a:lnSpc>
                <a:spcPct val="92000"/>
              </a:lnSpc>
              <a:spcAft>
                <a:spcPts val="0"/>
              </a:spcAft>
              <a:buNone/>
            </a:pPr>
            <a:r>
              <a:rPr sz="1250" b="1" i="0">
                <a:solidFill>
                  <a:srgbClr val="1A1F26"/>
                </a:solidFill>
                <a:latin typeface="Calibri"/>
              </a:rPr>
              <a:t>pit</a:t>
            </a:r>
          </a:p>
        </p:txBody>
      </p:sp>
      <p:sp>
        <p:nvSpPr>
          <p:cNvPr id="40" name="Right Arrow 39"/>
          <p:cNvSpPr/>
          <p:nvPr/>
        </p:nvSpPr>
        <p:spPr>
          <a:xfrm>
            <a:off x="4718303" y="3401568"/>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4850892" y="3054096"/>
            <a:ext cx="1298448" cy="822960"/>
          </a:xfrm>
          <a:prstGeom prst="roundRect">
            <a:avLst>
              <a:gd name="adj" fmla="val 6000"/>
            </a:avLst>
          </a:prstGeom>
          <a:solidFill>
            <a:srgbClr val="FDF3E3"/>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4896612" y="3118103"/>
            <a:ext cx="1207007" cy="713232"/>
          </a:xfrm>
          <a:prstGeom prst="rect">
            <a:avLst/>
          </a:prstGeom>
          <a:noFill/>
        </p:spPr>
        <p:txBody>
          <a:bodyPr wrap="square" lIns="18288" tIns="0" rIns="18288" bIns="0" anchor="t">
            <a:spAutoFit/>
          </a:bodyPr>
          <a:lstStyle/>
          <a:p>
            <a:pPr algn="ctr">
              <a:spcAft>
                <a:spcPts val="100"/>
              </a:spcAft>
              <a:buNone/>
            </a:pPr>
            <a:r>
              <a:rPr sz="1100" b="1" i="0">
                <a:solidFill>
                  <a:srgbClr val="5A6673"/>
                </a:solidFill>
                <a:latin typeface="Calibri"/>
              </a:rPr>
              <a:t>12</a:t>
            </a:r>
          </a:p>
          <a:p>
            <a:pPr algn="ctr">
              <a:lnSpc>
                <a:spcPct val="92000"/>
              </a:lnSpc>
              <a:spcAft>
                <a:spcPts val="0"/>
              </a:spcAft>
              <a:buNone/>
            </a:pPr>
            <a:r>
              <a:rPr sz="1250" b="1" i="0">
                <a:solidFill>
                  <a:srgbClr val="1A1F26"/>
                </a:solidFill>
                <a:latin typeface="Calibri"/>
              </a:rPr>
              <a:t>Economics</a:t>
            </a:r>
          </a:p>
          <a:p>
            <a:pPr algn="ctr">
              <a:lnSpc>
                <a:spcPct val="92000"/>
              </a:lnSpc>
              <a:spcAft>
                <a:spcPts val="0"/>
              </a:spcAft>
              <a:buNone/>
            </a:pPr>
            <a:r>
              <a:rPr sz="1250" b="1" i="0">
                <a:solidFill>
                  <a:srgbClr val="1A1F26"/>
                </a:solidFill>
                <a:latin typeface="Calibri"/>
              </a:rPr>
              <a:t>&amp; narrative</a:t>
            </a:r>
          </a:p>
        </p:txBody>
      </p:sp>
      <p:sp>
        <p:nvSpPr>
          <p:cNvPr id="43" name="Right Arrow 42"/>
          <p:cNvSpPr/>
          <p:nvPr/>
        </p:nvSpPr>
        <p:spPr>
          <a:xfrm>
            <a:off x="6158483" y="3401568"/>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291072" y="3054096"/>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336792" y="3118103"/>
            <a:ext cx="1207007" cy="713232"/>
          </a:xfrm>
          <a:prstGeom prst="rect">
            <a:avLst/>
          </a:prstGeom>
          <a:noFill/>
        </p:spPr>
        <p:txBody>
          <a:bodyPr wrap="square" lIns="18288" tIns="0" rIns="18288" bIns="0" anchor="t">
            <a:spAutoFit/>
          </a:bodyPr>
          <a:lstStyle/>
          <a:p>
            <a:pPr algn="ctr">
              <a:spcAft>
                <a:spcPts val="100"/>
              </a:spcAft>
              <a:buNone/>
            </a:pPr>
            <a:r>
              <a:rPr sz="1100" b="1" i="0">
                <a:solidFill>
                  <a:srgbClr val="5A6673"/>
                </a:solidFill>
                <a:latin typeface="Calibri"/>
              </a:rPr>
              <a:t>13</a:t>
            </a:r>
          </a:p>
          <a:p>
            <a:pPr algn="ctr">
              <a:lnSpc>
                <a:spcPct val="92000"/>
              </a:lnSpc>
              <a:spcAft>
                <a:spcPts val="0"/>
              </a:spcAft>
              <a:buNone/>
            </a:pPr>
            <a:r>
              <a:rPr sz="1250" b="1" i="0">
                <a:solidFill>
                  <a:srgbClr val="1A1F26"/>
                </a:solidFill>
                <a:latin typeface="Calibri"/>
              </a:rPr>
              <a:t>Ultimate</a:t>
            </a:r>
          </a:p>
          <a:p>
            <a:pPr algn="ctr">
              <a:lnSpc>
                <a:spcPct val="92000"/>
              </a:lnSpc>
              <a:spcAft>
                <a:spcPts val="0"/>
              </a:spcAft>
              <a:buNone/>
            </a:pPr>
            <a:r>
              <a:rPr sz="1250" b="1" i="0">
                <a:solidFill>
                  <a:srgbClr val="1A1F26"/>
                </a:solidFill>
                <a:latin typeface="Calibri"/>
              </a:rPr>
              <a:t>pit</a:t>
            </a:r>
          </a:p>
        </p:txBody>
      </p:sp>
      <p:sp>
        <p:nvSpPr>
          <p:cNvPr id="46" name="Right Arrow 45"/>
          <p:cNvSpPr/>
          <p:nvPr/>
        </p:nvSpPr>
        <p:spPr>
          <a:xfrm>
            <a:off x="7598664" y="3401568"/>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7731252" y="3054096"/>
            <a:ext cx="1298448" cy="822960"/>
          </a:xfrm>
          <a:prstGeom prst="roundRect">
            <a:avLst>
              <a:gd name="adj" fmla="val 6000"/>
            </a:avLst>
          </a:prstGeom>
          <a:solidFill>
            <a:srgbClr val="F2ECFB"/>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7776972" y="3118103"/>
            <a:ext cx="1207007" cy="713232"/>
          </a:xfrm>
          <a:prstGeom prst="rect">
            <a:avLst/>
          </a:prstGeom>
          <a:noFill/>
        </p:spPr>
        <p:txBody>
          <a:bodyPr wrap="square" lIns="18288" tIns="0" rIns="18288" bIns="0" anchor="t">
            <a:spAutoFit/>
          </a:bodyPr>
          <a:lstStyle/>
          <a:p>
            <a:pPr algn="ctr">
              <a:spcAft>
                <a:spcPts val="100"/>
              </a:spcAft>
              <a:buNone/>
            </a:pPr>
            <a:r>
              <a:rPr sz="1100" b="1" i="0">
                <a:solidFill>
                  <a:srgbClr val="5A6673"/>
                </a:solidFill>
                <a:latin typeface="Calibri"/>
              </a:rPr>
              <a:t>14</a:t>
            </a:r>
          </a:p>
          <a:p>
            <a:pPr algn="ctr">
              <a:lnSpc>
                <a:spcPct val="92000"/>
              </a:lnSpc>
              <a:spcAft>
                <a:spcPts val="0"/>
              </a:spcAft>
              <a:buNone/>
            </a:pPr>
            <a:r>
              <a:rPr sz="1250" b="1" i="0">
                <a:solidFill>
                  <a:srgbClr val="1A1F26"/>
                </a:solidFill>
                <a:latin typeface="Calibri"/>
              </a:rPr>
              <a:t>Scene &amp;</a:t>
            </a:r>
          </a:p>
          <a:p>
            <a:pPr algn="ctr">
              <a:lnSpc>
                <a:spcPct val="92000"/>
              </a:lnSpc>
              <a:spcAft>
                <a:spcPts val="0"/>
              </a:spcAft>
              <a:buNone/>
            </a:pPr>
            <a:r>
              <a:rPr sz="1250" b="1" i="0">
                <a:solidFill>
                  <a:srgbClr val="1A1F26"/>
                </a:solidFill>
                <a:latin typeface="Calibri"/>
              </a:rPr>
              <a:t>charts</a:t>
            </a:r>
          </a:p>
        </p:txBody>
      </p:sp>
      <p:sp>
        <p:nvSpPr>
          <p:cNvPr id="49" name="Right Arrow 48"/>
          <p:cNvSpPr/>
          <p:nvPr/>
        </p:nvSpPr>
        <p:spPr>
          <a:xfrm>
            <a:off x="9038844" y="3401568"/>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9171432" y="3054096"/>
            <a:ext cx="1298448" cy="822960"/>
          </a:xfrm>
          <a:prstGeom prst="roundRect">
            <a:avLst>
              <a:gd name="adj" fmla="val 6000"/>
            </a:avLst>
          </a:prstGeom>
          <a:solidFill>
            <a:srgbClr val="F2ECFB"/>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9217152" y="3118103"/>
            <a:ext cx="1207007" cy="713232"/>
          </a:xfrm>
          <a:prstGeom prst="rect">
            <a:avLst/>
          </a:prstGeom>
          <a:noFill/>
        </p:spPr>
        <p:txBody>
          <a:bodyPr wrap="square" lIns="18288" tIns="0" rIns="18288" bIns="0" anchor="t">
            <a:spAutoFit/>
          </a:bodyPr>
          <a:lstStyle/>
          <a:p>
            <a:pPr algn="ctr">
              <a:spcAft>
                <a:spcPts val="100"/>
              </a:spcAft>
              <a:buNone/>
            </a:pPr>
            <a:r>
              <a:rPr sz="1100" b="1" i="0">
                <a:solidFill>
                  <a:srgbClr val="5A6673"/>
                </a:solidFill>
                <a:latin typeface="Calibri"/>
              </a:rPr>
              <a:t>15</a:t>
            </a:r>
          </a:p>
          <a:p>
            <a:pPr algn="ctr">
              <a:lnSpc>
                <a:spcPct val="92000"/>
              </a:lnSpc>
              <a:spcAft>
                <a:spcPts val="0"/>
              </a:spcAft>
              <a:buNone/>
            </a:pPr>
            <a:r>
              <a:rPr sz="1250" b="1" i="0">
                <a:solidFill>
                  <a:srgbClr val="1A1F26"/>
                </a:solidFill>
                <a:latin typeface="Calibri"/>
              </a:rPr>
              <a:t>Render</a:t>
            </a:r>
          </a:p>
          <a:p>
            <a:pPr algn="ctr">
              <a:lnSpc>
                <a:spcPct val="92000"/>
              </a:lnSpc>
              <a:spcAft>
                <a:spcPts val="0"/>
              </a:spcAft>
              <a:buNone/>
            </a:pPr>
            <a:r>
              <a:rPr sz="1250" b="1" i="0">
                <a:solidFill>
                  <a:srgbClr val="1A1F26"/>
                </a:solidFill>
                <a:latin typeface="Calibri"/>
              </a:rPr>
              <a:t>report</a:t>
            </a:r>
          </a:p>
        </p:txBody>
      </p:sp>
      <p:sp>
        <p:nvSpPr>
          <p:cNvPr id="52" name="TextBox 51"/>
          <p:cNvSpPr txBox="1"/>
          <p:nvPr/>
        </p:nvSpPr>
        <p:spPr>
          <a:xfrm>
            <a:off x="530352" y="4041648"/>
            <a:ext cx="11064240" cy="329184"/>
          </a:xfrm>
          <a:prstGeom prst="rect">
            <a:avLst/>
          </a:prstGeom>
          <a:noFill/>
        </p:spPr>
        <p:txBody>
          <a:bodyPr wrap="square" lIns="18288" tIns="0" rIns="18288" bIns="0" anchor="t">
            <a:spAutoFit/>
          </a:bodyPr>
          <a:lstStyle/>
          <a:p>
            <a:pPr algn="l">
              <a:spcAft>
                <a:spcPts val="0"/>
              </a:spcAft>
              <a:buNone/>
            </a:pPr>
            <a:r>
              <a:rPr sz="1400" b="1" i="0">
                <a:solidFill>
                  <a:srgbClr val="9A5B00"/>
                </a:solidFill>
                <a:latin typeface="Calibri"/>
              </a:rPr>
              <a:t>Amber = the two judgement calls</a:t>
            </a:r>
            <a:r>
              <a:rPr sz="1400" b="1" i="0">
                <a:solidFill>
                  <a:srgbClr val="176B3A"/>
                </a:solidFill>
                <a:latin typeface="Calibri"/>
              </a:rPr>
              <a:t>      Green = deterministic arithmetic</a:t>
            </a:r>
            <a:r>
              <a:rPr sz="1400" b="1" i="0">
                <a:solidFill>
                  <a:srgbClr val="0D7377"/>
                </a:solidFill>
                <a:latin typeface="Calibri"/>
              </a:rPr>
              <a:t>      Teal = independent second model</a:t>
            </a:r>
            <a:r>
              <a:rPr sz="1400" b="1" i="0">
                <a:solidFill>
                  <a:srgbClr val="5B21A8"/>
                </a:solidFill>
                <a:latin typeface="Calibri"/>
              </a:rPr>
              <a:t>      Purple = reporting</a:t>
            </a:r>
          </a:p>
        </p:txBody>
      </p:sp>
      <p:sp>
        <p:nvSpPr>
          <p:cNvPr id="53" name="TextBox 52"/>
          <p:cNvSpPr txBox="1"/>
          <p:nvPr/>
        </p:nvSpPr>
        <p:spPr>
          <a:xfrm>
            <a:off x="384048" y="4462272"/>
            <a:ext cx="9601200" cy="457200"/>
          </a:xfrm>
          <a:prstGeom prst="rect">
            <a:avLst/>
          </a:prstGeom>
          <a:noFill/>
        </p:spPr>
        <p:txBody>
          <a:bodyPr wrap="square" lIns="18288" tIns="0" rIns="18288" bIns="0" anchor="t">
            <a:spAutoFit/>
          </a:bodyPr>
          <a:lstStyle/>
          <a:p>
            <a:pPr algn="l">
              <a:spcAft>
                <a:spcPts val="0"/>
              </a:spcAft>
              <a:buNone/>
            </a:pPr>
            <a:r>
              <a:rPr sz="2100" b="1" i="0">
                <a:solidFill>
                  <a:srgbClr val="0070C0"/>
                </a:solidFill>
                <a:latin typeface="Calibri"/>
              </a:rPr>
              <a:t>Built as five layers</a:t>
            </a:r>
          </a:p>
        </p:txBody>
      </p:sp>
      <p:sp>
        <p:nvSpPr>
          <p:cNvPr id="54" name="TextBox 53"/>
          <p:cNvSpPr txBox="1"/>
          <p:nvPr/>
        </p:nvSpPr>
        <p:spPr>
          <a:xfrm>
            <a:off x="548640" y="4937760"/>
            <a:ext cx="11064240" cy="1645920"/>
          </a:xfrm>
          <a:prstGeom prst="rect">
            <a:avLst/>
          </a:prstGeom>
          <a:noFill/>
        </p:spPr>
        <p:txBody>
          <a:bodyPr wrap="square" lIns="18288" tIns="0" rIns="18288" bIns="0" anchor="t">
            <a:spAutoFit/>
          </a:bodyPr>
          <a:lstStyle/>
          <a:p>
            <a:pPr marL="201168" indent="-164592" algn="l">
              <a:lnSpc>
                <a:spcPct val="98000"/>
              </a:lnSpc>
              <a:spcAft>
                <a:spcPts val="400"/>
              </a:spcAft>
              <a:buFont typeface="Arial"/>
              <a:buChar char="•"/>
            </a:pPr>
            <a:r>
              <a:rPr sz="1600" b="0" i="0">
                <a:solidFill>
                  <a:srgbClr val="1A1F26"/>
                </a:solidFill>
                <a:latin typeface="Calibri"/>
              </a:rPr>
              <a:t>Entry points — a command-line tool and a FastAPI service, sharing one orchestrator</a:t>
            </a:r>
          </a:p>
          <a:p>
            <a:pPr marL="201168" indent="-164592" algn="l">
              <a:lnSpc>
                <a:spcPct val="98000"/>
              </a:lnSpc>
              <a:spcAft>
                <a:spcPts val="400"/>
              </a:spcAft>
              <a:buFont typeface="Arial"/>
              <a:buChar char="•"/>
            </a:pPr>
            <a:r>
              <a:rPr sz="1600" b="0" i="0">
                <a:solidFill>
                  <a:srgbClr val="1A1F26"/>
                </a:solidFill>
                <a:latin typeface="Calibri"/>
              </a:rPr>
              <a:t>Orchestration — the single file that knows the order of the workflow</a:t>
            </a:r>
          </a:p>
          <a:p>
            <a:pPr marL="201168" indent="-164592" algn="l">
              <a:lnSpc>
                <a:spcPct val="98000"/>
              </a:lnSpc>
              <a:spcAft>
                <a:spcPts val="400"/>
              </a:spcAft>
              <a:buFont typeface="Arial"/>
              <a:buChar char="•"/>
            </a:pPr>
            <a:r>
              <a:rPr sz="1600" b="0" i="0">
                <a:solidFill>
                  <a:srgbClr val="1A1F26"/>
                </a:solidFill>
                <a:latin typeface="Calibri"/>
              </a:rPr>
              <a:t>Deterministic compute — ingest, geology, solid, block model, pit (stateless functions)</a:t>
            </a:r>
          </a:p>
          <a:p>
            <a:pPr marL="201168" indent="-164592" algn="l">
              <a:lnSpc>
                <a:spcPct val="98000"/>
              </a:lnSpc>
              <a:spcAft>
                <a:spcPts val="400"/>
              </a:spcAft>
              <a:buFont typeface="Arial"/>
              <a:buChar char="•"/>
            </a:pPr>
            <a:r>
              <a:rPr sz="1600" b="0" i="0">
                <a:solidFill>
                  <a:srgbClr val="1A1F26"/>
                </a:solidFill>
                <a:latin typeface="Calibri"/>
              </a:rPr>
              <a:t>Reporting — 3D scene, charts, tables, one self-contained HTML file</a:t>
            </a:r>
          </a:p>
          <a:p>
            <a:pPr marL="201168" indent="-164592" algn="l">
              <a:lnSpc>
                <a:spcPct val="98000"/>
              </a:lnSpc>
              <a:spcAft>
                <a:spcPts val="400"/>
              </a:spcAft>
              <a:buFont typeface="Arial"/>
              <a:buChar char="•"/>
            </a:pPr>
            <a:r>
              <a:rPr sz="1600" b="0" i="0">
                <a:solidFill>
                  <a:srgbClr val="1A1F26"/>
                </a:solidFill>
                <a:latin typeface="Calibri"/>
              </a:rPr>
              <a:t>Cross-cutting — configuration, errors, logging; imported by everything, importing nothing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tIns="0" rIns="18288" bIns="0" anchor="t">
            <a:spAutoFit/>
          </a:bodyPr>
          <a:lstStyle/>
          <a:p>
            <a:pPr algn="l">
              <a:spcAft>
                <a:spcPts val="0"/>
              </a:spcAft>
              <a:buNone/>
            </a:pPr>
            <a:r>
              <a:rPr sz="3600" b="1" i="0">
                <a:solidFill>
                  <a:srgbClr val="00B050"/>
                </a:solidFill>
                <a:latin typeface="Calibri"/>
              </a:rPr>
              <a:t>The Design Principle That Makes It Trustworthy</a:t>
            </a:r>
          </a:p>
        </p:txBody>
      </p:sp>
      <p:sp>
        <p:nvSpPr>
          <p:cNvPr id="8" name="TextBox 7"/>
          <p:cNvSpPr txBox="1"/>
          <p:nvPr/>
        </p:nvSpPr>
        <p:spPr>
          <a:xfrm>
            <a:off x="384048" y="987552"/>
            <a:ext cx="9601200" cy="457200"/>
          </a:xfrm>
          <a:prstGeom prst="rect">
            <a:avLst/>
          </a:prstGeom>
          <a:noFill/>
        </p:spPr>
        <p:txBody>
          <a:bodyPr wrap="square" lIns="18288" tIns="0" rIns="18288" bIns="0" anchor="t">
            <a:spAutoFit/>
          </a:bodyPr>
          <a:lstStyle/>
          <a:p>
            <a:pPr algn="l">
              <a:spcAft>
                <a:spcPts val="0"/>
              </a:spcAft>
              <a:buNone/>
            </a:pPr>
            <a:r>
              <a:rPr sz="2400" b="1" i="0">
                <a:solidFill>
                  <a:srgbClr val="0070C0"/>
                </a:solidFill>
                <a:latin typeface="Calibri"/>
              </a:rPr>
              <a:t>Exactly two AI calls per run — everything else is arithmetic</a:t>
            </a:r>
          </a:p>
        </p:txBody>
      </p:sp>
      <p:sp>
        <p:nvSpPr>
          <p:cNvPr id="9" name="Rounded Rectangle 8"/>
          <p:cNvSpPr/>
          <p:nvPr/>
        </p:nvSpPr>
        <p:spPr>
          <a:xfrm>
            <a:off x="530352" y="1591056"/>
            <a:ext cx="5394960" cy="2487168"/>
          </a:xfrm>
          <a:prstGeom prst="roundRect">
            <a:avLst>
              <a:gd name="adj" fmla="val 6000"/>
            </a:avLst>
          </a:prstGeom>
          <a:solidFill>
            <a:srgbClr val="FDF3E3"/>
          </a:solidFill>
          <a:ln w="12700">
            <a:solidFill>
              <a:srgbClr val="D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31520" y="1755648"/>
            <a:ext cx="4992624" cy="2194560"/>
          </a:xfrm>
          <a:prstGeom prst="rect">
            <a:avLst/>
          </a:prstGeom>
          <a:noFill/>
        </p:spPr>
        <p:txBody>
          <a:bodyPr wrap="square" lIns="18288" tIns="0" rIns="18288" bIns="0" anchor="t">
            <a:spAutoFit/>
          </a:bodyPr>
          <a:lstStyle/>
          <a:p>
            <a:pPr algn="l">
              <a:spcAft>
                <a:spcPts val="800"/>
              </a:spcAft>
              <a:buNone/>
            </a:pPr>
            <a:r>
              <a:rPr sz="2000" b="1" i="0">
                <a:solidFill>
                  <a:srgbClr val="9A5B00"/>
                </a:solidFill>
                <a:latin typeface="Calibri"/>
              </a:rPr>
              <a:t>AI decides  (2 calls)</a:t>
            </a:r>
          </a:p>
          <a:p>
            <a:pPr marL="201168" indent="-164592" algn="l">
              <a:lnSpc>
                <a:spcPct val="97000"/>
              </a:lnSpc>
              <a:spcAft>
                <a:spcPts val="700"/>
              </a:spcAft>
              <a:buFont typeface="Arial"/>
              <a:buChar char="•"/>
            </a:pPr>
            <a:r>
              <a:rPr sz="1500" b="0" i="0">
                <a:solidFill>
                  <a:srgbClr val="1A1F26"/>
                </a:solidFill>
                <a:latin typeface="Calibri"/>
              </a:rPr>
              <a:t>Call 1 — the ore/waste cutoff, which rock codes are mineralised, the ore boundary on each section, the variogram and the estimator</a:t>
            </a:r>
          </a:p>
          <a:p>
            <a:pPr marL="201168" indent="-164592" algn="l">
              <a:lnSpc>
                <a:spcPct val="97000"/>
              </a:lnSpc>
              <a:spcAft>
                <a:spcPts val="800"/>
              </a:spcAft>
              <a:buFont typeface="Arial"/>
              <a:buChar char="•"/>
            </a:pPr>
            <a:r>
              <a:rPr sz="1500" b="0" i="0">
                <a:solidFill>
                  <a:srgbClr val="1A1F26"/>
                </a:solidFill>
                <a:latin typeface="Calibri"/>
              </a:rPr>
              <a:t>Call 2 — pit economics and the written engineering narrative</a:t>
            </a:r>
          </a:p>
          <a:p>
            <a:pPr algn="l">
              <a:lnSpc>
                <a:spcPct val="97000"/>
              </a:lnSpc>
              <a:spcAft>
                <a:spcPts val="0"/>
              </a:spcAft>
              <a:buNone/>
            </a:pPr>
            <a:r>
              <a:rPr sz="1300" b="0" i="1">
                <a:solidFill>
                  <a:srgbClr val="5A6673"/>
                </a:solidFill>
                <a:latin typeface="Calibri"/>
              </a:rPr>
              <a:t>Judgement over ambiguous, conflicting evidence — where two competent geologists can disagree and both be defensible.</a:t>
            </a:r>
          </a:p>
        </p:txBody>
      </p:sp>
      <p:sp>
        <p:nvSpPr>
          <p:cNvPr id="11" name="Rounded Rectangle 10"/>
          <p:cNvSpPr/>
          <p:nvPr/>
        </p:nvSpPr>
        <p:spPr>
          <a:xfrm>
            <a:off x="6199632" y="1591056"/>
            <a:ext cx="5422392" cy="2487168"/>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755648"/>
            <a:ext cx="5020056" cy="2194560"/>
          </a:xfrm>
          <a:prstGeom prst="rect">
            <a:avLst/>
          </a:prstGeom>
          <a:noFill/>
        </p:spPr>
        <p:txBody>
          <a:bodyPr wrap="square" lIns="18288" tIns="0" rIns="18288" bIns="0" anchor="t">
            <a:spAutoFit/>
          </a:bodyPr>
          <a:lstStyle/>
          <a:p>
            <a:pPr algn="l">
              <a:spcAft>
                <a:spcPts val="800"/>
              </a:spcAft>
              <a:buNone/>
            </a:pPr>
            <a:r>
              <a:rPr sz="2000" b="1" i="0">
                <a:solidFill>
                  <a:srgbClr val="176B3A"/>
                </a:solidFill>
                <a:latin typeface="Calibri"/>
              </a:rPr>
              <a:t>Code computes  (everything else)</a:t>
            </a:r>
          </a:p>
          <a:p>
            <a:pPr algn="l">
              <a:lnSpc>
                <a:spcPct val="97000"/>
              </a:lnSpc>
              <a:spcAft>
                <a:spcPts val="800"/>
              </a:spcAft>
              <a:buNone/>
            </a:pPr>
            <a:r>
              <a:rPr sz="1400" b="0" i="0">
                <a:solidFill>
                  <a:srgbClr val="1A1F26"/>
                </a:solidFill>
                <a:latin typeface="Calibri"/>
              </a:rPr>
              <a:t>Minimum-curvature desurvey · length-weighted compositing · top cut · convex-hull enveloping · polar-resampled lofting · mesh validation · variogram fitting · ordinary kriging · ray-cast point-in-solid · tonnage · maximum-closure pit · bench scheduling</a:t>
            </a:r>
          </a:p>
          <a:p>
            <a:pPr algn="l">
              <a:lnSpc>
                <a:spcPct val="97000"/>
              </a:lnSpc>
              <a:spcAft>
                <a:spcPts val="0"/>
              </a:spcAft>
              <a:buNone/>
            </a:pPr>
            <a:r>
              <a:rPr sz="1300" b="0" i="1">
                <a:solidFill>
                  <a:srgbClr val="5A6673"/>
                </a:solidFill>
                <a:latin typeface="Calibri"/>
              </a:rPr>
              <a:t>Every one has a known formula. Routing them through a model would cost money and add a hallucination risk where none is needed.</a:t>
            </a:r>
          </a:p>
        </p:txBody>
      </p:sp>
      <p:sp>
        <p:nvSpPr>
          <p:cNvPr id="13" name="TextBox 12"/>
          <p:cNvSpPr txBox="1"/>
          <p:nvPr/>
        </p:nvSpPr>
        <p:spPr>
          <a:xfrm>
            <a:off x="384048" y="4224528"/>
            <a:ext cx="9601200" cy="457200"/>
          </a:xfrm>
          <a:prstGeom prst="rect">
            <a:avLst/>
          </a:prstGeom>
          <a:noFill/>
        </p:spPr>
        <p:txBody>
          <a:bodyPr wrap="square" lIns="18288" tIns="0" rIns="18288" bIns="0" anchor="t">
            <a:spAutoFit/>
          </a:bodyPr>
          <a:lstStyle/>
          <a:p>
            <a:pPr algn="l">
              <a:spcAft>
                <a:spcPts val="0"/>
              </a:spcAft>
              <a:buNone/>
            </a:pPr>
            <a:r>
              <a:rPr sz="2100" b="1" i="0">
                <a:solidFill>
                  <a:srgbClr val="0070C0"/>
                </a:solidFill>
                <a:latin typeface="Calibri"/>
              </a:rPr>
              <a:t>Three guarantees this buys you</a:t>
            </a:r>
          </a:p>
        </p:txBody>
      </p:sp>
      <p:sp>
        <p:nvSpPr>
          <p:cNvPr id="14" name="Rounded Rectangle 13"/>
          <p:cNvSpPr/>
          <p:nvPr/>
        </p:nvSpPr>
        <p:spPr>
          <a:xfrm>
            <a:off x="530352" y="4700016"/>
            <a:ext cx="3566160" cy="1783080"/>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94944" y="4855464"/>
            <a:ext cx="3236976" cy="1508760"/>
          </a:xfrm>
          <a:prstGeom prst="rect">
            <a:avLst/>
          </a:prstGeom>
          <a:noFill/>
        </p:spPr>
        <p:txBody>
          <a:bodyPr wrap="square" lIns="18288" tIns="0" rIns="18288" bIns="0" anchor="t">
            <a:spAutoFit/>
          </a:bodyPr>
          <a:lstStyle/>
          <a:p>
            <a:pPr algn="l">
              <a:lnSpc>
                <a:spcPct val="97000"/>
              </a:lnSpc>
              <a:spcAft>
                <a:spcPts val="500"/>
              </a:spcAft>
              <a:buNone/>
            </a:pPr>
            <a:r>
              <a:rPr sz="1600" b="1" i="0">
                <a:solidFill>
                  <a:srgbClr val="0070C0"/>
                </a:solidFill>
                <a:latin typeface="Calibri"/>
              </a:rPr>
              <a:t>No fabricated figures</a:t>
            </a:r>
          </a:p>
          <a:p>
            <a:pPr algn="l">
              <a:lnSpc>
                <a:spcPct val="97000"/>
              </a:lnSpc>
              <a:spcAft>
                <a:spcPts val="0"/>
              </a:spcAft>
              <a:buNone/>
            </a:pPr>
            <a:r>
              <a:rPr sz="1300" b="0" i="0">
                <a:solidFill>
                  <a:srgbClr val="1A1F26"/>
                </a:solidFill>
                <a:latin typeface="Calibri"/>
              </a:rPr>
              <a:t>The model writes prose and picks parameters. Every number in a table, chart or 3D layer is supplied by the pipeline, so no figure in the report can be invented.</a:t>
            </a:r>
          </a:p>
        </p:txBody>
      </p:sp>
      <p:sp>
        <p:nvSpPr>
          <p:cNvPr id="16" name="Rounded Rectangle 15"/>
          <p:cNvSpPr/>
          <p:nvPr/>
        </p:nvSpPr>
        <p:spPr>
          <a:xfrm>
            <a:off x="4265676" y="4700016"/>
            <a:ext cx="3566160" cy="1783080"/>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430268" y="4855464"/>
            <a:ext cx="3236976" cy="1508760"/>
          </a:xfrm>
          <a:prstGeom prst="rect">
            <a:avLst/>
          </a:prstGeom>
          <a:noFill/>
        </p:spPr>
        <p:txBody>
          <a:bodyPr wrap="square" lIns="18288" tIns="0" rIns="18288" bIns="0" anchor="t">
            <a:spAutoFit/>
          </a:bodyPr>
          <a:lstStyle/>
          <a:p>
            <a:pPr algn="l">
              <a:lnSpc>
                <a:spcPct val="97000"/>
              </a:lnSpc>
              <a:spcAft>
                <a:spcPts val="500"/>
              </a:spcAft>
              <a:buNone/>
            </a:pPr>
            <a:r>
              <a:rPr sz="1600" b="1" i="0">
                <a:solidFill>
                  <a:srgbClr val="0070C0"/>
                </a:solidFill>
                <a:latin typeface="Calibri"/>
              </a:rPr>
              <a:t>Every answer is range-checked</a:t>
            </a:r>
          </a:p>
          <a:p>
            <a:pPr algn="l">
              <a:lnSpc>
                <a:spcPct val="97000"/>
              </a:lnSpc>
              <a:spcAft>
                <a:spcPts val="0"/>
              </a:spcAft>
              <a:buNone/>
            </a:pPr>
            <a:r>
              <a:rPr sz="1300" b="0" i="0">
                <a:solidFill>
                  <a:srgbClr val="1A1F26"/>
                </a:solidFill>
                <a:latin typeface="Calibri"/>
              </a:rPr>
              <a:t>A cutoff outside the observed grade range, an unknown rock code or a negative sill is replaced with the coded value, and the substitution is reported.</a:t>
            </a:r>
          </a:p>
        </p:txBody>
      </p:sp>
      <p:sp>
        <p:nvSpPr>
          <p:cNvPr id="18" name="Rounded Rectangle 17"/>
          <p:cNvSpPr/>
          <p:nvPr/>
        </p:nvSpPr>
        <p:spPr>
          <a:xfrm>
            <a:off x="8001000" y="4700016"/>
            <a:ext cx="3566160" cy="1783080"/>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165592" y="4855464"/>
            <a:ext cx="3236976" cy="1508760"/>
          </a:xfrm>
          <a:prstGeom prst="rect">
            <a:avLst/>
          </a:prstGeom>
          <a:noFill/>
        </p:spPr>
        <p:txBody>
          <a:bodyPr wrap="square" lIns="18288" tIns="0" rIns="18288" bIns="0" anchor="t">
            <a:spAutoFit/>
          </a:bodyPr>
          <a:lstStyle/>
          <a:p>
            <a:pPr algn="l">
              <a:lnSpc>
                <a:spcPct val="97000"/>
              </a:lnSpc>
              <a:spcAft>
                <a:spcPts val="500"/>
              </a:spcAft>
              <a:buNone/>
            </a:pPr>
            <a:r>
              <a:rPr sz="1600" b="1" i="0">
                <a:solidFill>
                  <a:srgbClr val="0070C0"/>
                </a:solidFill>
                <a:latin typeface="Calibri"/>
              </a:rPr>
              <a:t>It still runs with no AI at all</a:t>
            </a:r>
          </a:p>
          <a:p>
            <a:pPr algn="l">
              <a:lnSpc>
                <a:spcPct val="97000"/>
              </a:lnSpc>
              <a:spcAft>
                <a:spcPts val="0"/>
              </a:spcAft>
              <a:buNone/>
            </a:pPr>
            <a:r>
              <a:rPr sz="1300" b="0" i="0">
                <a:solidFill>
                  <a:srgbClr val="1A1F26"/>
                </a:solidFill>
                <a:latin typeface="Calibri"/>
              </a:rPr>
              <a:t>With no model reachable the run completes on coded convention — and the report says so in a banner, rather than passing a default off as a decision.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tIns="0" rIns="18288" bIns="0" anchor="t">
            <a:spAutoFit/>
          </a:bodyPr>
          <a:lstStyle/>
          <a:p>
            <a:pPr algn="l">
              <a:spcAft>
                <a:spcPts val="0"/>
              </a:spcAft>
              <a:buNone/>
            </a:pPr>
            <a:r>
              <a:rPr sz="3600" b="1" i="0">
                <a:solidFill>
                  <a:srgbClr val="00B050"/>
                </a:solidFill>
                <a:latin typeface="Calibri"/>
              </a:rPr>
              <a:t>Stage 1 — Data Ingestion That Does Not Guess</a:t>
            </a:r>
          </a:p>
        </p:txBody>
      </p:sp>
      <p:sp>
        <p:nvSpPr>
          <p:cNvPr id="8" name="TextBox 7"/>
          <p:cNvSpPr txBox="1"/>
          <p:nvPr/>
        </p:nvSpPr>
        <p:spPr>
          <a:xfrm>
            <a:off x="384048" y="987552"/>
            <a:ext cx="9601200" cy="457200"/>
          </a:xfrm>
          <a:prstGeom prst="rect">
            <a:avLst/>
          </a:prstGeom>
          <a:noFill/>
        </p:spPr>
        <p:txBody>
          <a:bodyPr wrap="square" lIns="18288" tIns="0" rIns="18288" bIns="0" anchor="t">
            <a:spAutoFit/>
          </a:bodyPr>
          <a:lstStyle/>
          <a:p>
            <a:pPr algn="l">
              <a:spcAft>
                <a:spcPts val="0"/>
              </a:spcAft>
              <a:buNone/>
            </a:pPr>
            <a:r>
              <a:rPr sz="2400" b="1" i="0">
                <a:solidFill>
                  <a:srgbClr val="0070C0"/>
                </a:solidFill>
                <a:latin typeface="Calibri"/>
              </a:rPr>
              <a:t>Real exploration data is messy; the loader is built for that</a:t>
            </a:r>
          </a:p>
        </p:txBody>
      </p:sp>
      <p:sp>
        <p:nvSpPr>
          <p:cNvPr id="9" name="TextBox 8"/>
          <p:cNvSpPr txBox="1"/>
          <p:nvPr/>
        </p:nvSpPr>
        <p:spPr>
          <a:xfrm>
            <a:off x="530352" y="1627632"/>
            <a:ext cx="6583680" cy="3017520"/>
          </a:xfrm>
          <a:prstGeom prst="rect">
            <a:avLst/>
          </a:prstGeom>
          <a:noFill/>
        </p:spPr>
        <p:txBody>
          <a:bodyPr wrap="square" lIns="18288" tIns="0" rIns="18288" bIns="0" anchor="t">
            <a:spAutoFit/>
          </a:bodyPr>
          <a:lstStyle/>
          <a:p>
            <a:pPr marL="201168" indent="-164592" algn="l">
              <a:lnSpc>
                <a:spcPct val="97000"/>
              </a:lnSpc>
              <a:spcAft>
                <a:spcPts val="1100"/>
              </a:spcAft>
              <a:buFont typeface="Arial"/>
              <a:buChar char="•"/>
            </a:pPr>
            <a:r>
              <a:rPr sz="1600" b="1" i="0">
                <a:solidFill>
                  <a:srgbClr val="0070C0"/>
                </a:solidFill>
                <a:latin typeface="Calibri"/>
              </a:rPr>
              <a:t>Any format, any mix. </a:t>
            </a:r>
            <a:r>
              <a:rPr sz="1600" b="0" i="0">
                <a:solidFill>
                  <a:srgbClr val="1A1F26"/>
                </a:solidFill>
                <a:latin typeface="Calibri"/>
              </a:rPr>
              <a:t>CSV, Excel or WAMEX / GSWA statutory .txt, detected by content rather than extension. All four tables may sit in one workbook.</a:t>
            </a:r>
          </a:p>
          <a:p>
            <a:pPr marL="201168" indent="-164592" algn="l">
              <a:lnSpc>
                <a:spcPct val="97000"/>
              </a:lnSpc>
              <a:spcAft>
                <a:spcPts val="1100"/>
              </a:spcAft>
              <a:buFont typeface="Arial"/>
              <a:buChar char="•"/>
            </a:pPr>
            <a:r>
              <a:rPr sz="1600" b="1" i="0">
                <a:solidFill>
                  <a:srgbClr val="0070C0"/>
                </a:solidFill>
                <a:latin typeface="Calibri"/>
              </a:rPr>
              <a:t>Column names resolve themselves. </a:t>
            </a:r>
            <a:r>
              <a:rPr sz="1600" b="0" i="0">
                <a:solidFill>
                  <a:srgbClr val="1A1F26"/>
                </a:solidFill>
                <a:latin typeface="Calibri"/>
              </a:rPr>
              <a:t>A synonym dictionary covers Surpac, Datamine, Micromine and Vulcan conventions — BHID, HoleID and hole_id all map to the same field.</a:t>
            </a:r>
          </a:p>
          <a:p>
            <a:pPr marL="201168" indent="-164592" algn="l">
              <a:lnSpc>
                <a:spcPct val="97000"/>
              </a:lnSpc>
              <a:spcAft>
                <a:spcPts val="1100"/>
              </a:spcAft>
              <a:buFont typeface="Arial"/>
              <a:buChar char="•"/>
            </a:pPr>
            <a:r>
              <a:rPr sz="1600" b="1" i="0">
                <a:solidFill>
                  <a:srgbClr val="0070C0"/>
                </a:solidFill>
                <a:latin typeface="Calibri"/>
              </a:rPr>
              <a:t>Censored lab values are handled. </a:t>
            </a:r>
            <a:r>
              <a:rPr sz="1600" b="0" i="0">
                <a:solidFill>
                  <a:srgbClr val="1A1F26"/>
                </a:solidFill>
                <a:latin typeface="Calibri"/>
              </a:rPr>
              <a:t>&lt;0.5 becomes half the detection limit and &gt;2000 becomes the limit — the standard convention — and both counts are reported.</a:t>
            </a:r>
          </a:p>
          <a:p>
            <a:pPr marL="201168" indent="-164592" algn="l">
              <a:lnSpc>
                <a:spcPct val="97000"/>
              </a:lnSpc>
              <a:spcAft>
                <a:spcPts val="1100"/>
              </a:spcAft>
              <a:buFont typeface="Arial"/>
              <a:buChar char="•"/>
            </a:pPr>
            <a:r>
              <a:rPr sz="1600" b="1" i="0">
                <a:solidFill>
                  <a:srgbClr val="0070C0"/>
                </a:solidFill>
                <a:latin typeface="Calibri"/>
              </a:rPr>
              <a:t>It refuses to guess the grade element. </a:t>
            </a:r>
            <a:r>
              <a:rPr sz="1600" b="0" i="0">
                <a:solidFill>
                  <a:srgbClr val="1A1F26"/>
                </a:solidFill>
                <a:latin typeface="Calibri"/>
              </a:rPr>
              <a:t>A multi-element assay file raises and lists what is available, rather than silently binding Cu as the grade on a uranium project.</a:t>
            </a:r>
          </a:p>
        </p:txBody>
      </p:sp>
      <p:sp>
        <p:nvSpPr>
          <p:cNvPr id="10" name="Rounded Rectangle 9"/>
          <p:cNvSpPr/>
          <p:nvPr/>
        </p:nvSpPr>
        <p:spPr>
          <a:xfrm>
            <a:off x="7406640" y="2103120"/>
            <a:ext cx="4215384" cy="2578608"/>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607808" y="2249424"/>
            <a:ext cx="3813048" cy="2286000"/>
          </a:xfrm>
          <a:prstGeom prst="rect">
            <a:avLst/>
          </a:prstGeom>
          <a:noFill/>
        </p:spPr>
        <p:txBody>
          <a:bodyPr wrap="square" lIns="18288" tIns="0" rIns="18288" bIns="0" anchor="t">
            <a:spAutoFit/>
          </a:bodyPr>
          <a:lstStyle/>
          <a:p>
            <a:pPr algn="l">
              <a:spcAft>
                <a:spcPts val="700"/>
              </a:spcAft>
              <a:buNone/>
            </a:pPr>
            <a:r>
              <a:rPr sz="1800" b="1" i="0">
                <a:solidFill>
                  <a:srgbClr val="0070C0"/>
                </a:solidFill>
                <a:latin typeface="Calibri"/>
              </a:rPr>
              <a:t>Eleven validation checks</a:t>
            </a:r>
          </a:p>
          <a:p>
            <a:pPr marL="201168" indent="-164592" algn="l">
              <a:lnSpc>
                <a:spcPct val="95000"/>
              </a:lnSpc>
              <a:spcAft>
                <a:spcPts val="400"/>
              </a:spcAft>
              <a:buFont typeface="Arial"/>
              <a:buChar char="•"/>
            </a:pPr>
            <a:r>
              <a:rPr sz="1350" b="0" i="0">
                <a:solidFill>
                  <a:srgbClr val="1A1F26"/>
                </a:solidFill>
                <a:latin typeface="Calibri"/>
              </a:rPr>
              <a:t>Missing or duplicate collars</a:t>
            </a:r>
          </a:p>
          <a:p>
            <a:pPr marL="201168" indent="-164592" algn="l">
              <a:lnSpc>
                <a:spcPct val="95000"/>
              </a:lnSpc>
              <a:spcAft>
                <a:spcPts val="400"/>
              </a:spcAft>
              <a:buFont typeface="Arial"/>
              <a:buChar char="•"/>
            </a:pPr>
            <a:r>
              <a:rPr sz="1350" b="0" i="0">
                <a:solidFill>
                  <a:srgbClr val="1A1F26"/>
                </a:solidFill>
                <a:latin typeface="Calibri"/>
              </a:rPr>
              <a:t>Orphan hole IDs across tables</a:t>
            </a:r>
          </a:p>
          <a:p>
            <a:pPr marL="201168" indent="-164592" algn="l">
              <a:lnSpc>
                <a:spcPct val="95000"/>
              </a:lnSpc>
              <a:spcAft>
                <a:spcPts val="400"/>
              </a:spcAft>
              <a:buFont typeface="Arial"/>
              <a:buChar char="•"/>
            </a:pPr>
            <a:r>
              <a:rPr sz="1350" b="0" i="0">
                <a:solidFill>
                  <a:srgbClr val="1A1F26"/>
                </a:solidFill>
                <a:latin typeface="Calibri"/>
              </a:rPr>
              <a:t>Azimuth wrapped, dip clipped</a:t>
            </a:r>
          </a:p>
          <a:p>
            <a:pPr marL="201168" indent="-164592" algn="l">
              <a:lnSpc>
                <a:spcPct val="95000"/>
              </a:lnSpc>
              <a:spcAft>
                <a:spcPts val="400"/>
              </a:spcAft>
              <a:buFont typeface="Arial"/>
              <a:buChar char="•"/>
            </a:pPr>
            <a:r>
              <a:rPr sz="1350" b="0" i="0">
                <a:solidFill>
                  <a:srgbClr val="1A1F26"/>
                </a:solidFill>
                <a:latin typeface="Calibri"/>
              </a:rPr>
              <a:t>All-positive dips detected and negated</a:t>
            </a:r>
          </a:p>
          <a:p>
            <a:pPr marL="201168" indent="-164592" algn="l">
              <a:lnSpc>
                <a:spcPct val="95000"/>
              </a:lnSpc>
              <a:spcAft>
                <a:spcPts val="400"/>
              </a:spcAft>
              <a:buFont typeface="Arial"/>
              <a:buChar char="•"/>
            </a:pPr>
            <a:r>
              <a:rPr sz="1350" b="0" i="0">
                <a:solidFill>
                  <a:srgbClr val="1A1F26"/>
                </a:solidFill>
                <a:latin typeface="Calibri"/>
              </a:rPr>
              <a:t>Intervals where to ≤ from</a:t>
            </a:r>
          </a:p>
          <a:p>
            <a:pPr marL="201168" indent="-164592" algn="l">
              <a:lnSpc>
                <a:spcPct val="95000"/>
              </a:lnSpc>
              <a:spcAft>
                <a:spcPts val="400"/>
              </a:spcAft>
              <a:buFont typeface="Arial"/>
              <a:buChar char="•"/>
            </a:pPr>
            <a:r>
              <a:rPr sz="1350" b="0" i="0">
                <a:solidFill>
                  <a:srgbClr val="1A1F26"/>
                </a:solidFill>
                <a:latin typeface="Calibri"/>
              </a:rPr>
              <a:t>Overlapping downhole intervals</a:t>
            </a:r>
          </a:p>
          <a:p>
            <a:pPr marL="201168" indent="-164592" algn="l">
              <a:lnSpc>
                <a:spcPct val="95000"/>
              </a:lnSpc>
              <a:spcAft>
                <a:spcPts val="400"/>
              </a:spcAft>
              <a:buFont typeface="Arial"/>
              <a:buChar char="•"/>
            </a:pPr>
            <a:r>
              <a:rPr sz="1350" b="0" i="0">
                <a:solidFill>
                  <a:srgbClr val="1A1F26"/>
                </a:solidFill>
                <a:latin typeface="Calibri"/>
              </a:rPr>
              <a:t>Negative or missing grades</a:t>
            </a:r>
          </a:p>
        </p:txBody>
      </p:sp>
      <p:sp>
        <p:nvSpPr>
          <p:cNvPr id="12" name="Rounded Rectangle 11"/>
          <p:cNvSpPr/>
          <p:nvPr/>
        </p:nvSpPr>
        <p:spPr>
          <a:xfrm>
            <a:off x="530352" y="4901184"/>
            <a:ext cx="11091672" cy="137160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49808" y="5065776"/>
            <a:ext cx="10652760" cy="1097280"/>
          </a:xfrm>
          <a:prstGeom prst="rect">
            <a:avLst/>
          </a:prstGeom>
          <a:noFill/>
        </p:spPr>
        <p:txBody>
          <a:bodyPr wrap="square" lIns="18288" tIns="0" rIns="18288" bIns="0" anchor="t">
            <a:spAutoFit/>
          </a:bodyPr>
          <a:lstStyle/>
          <a:p>
            <a:pPr algn="l">
              <a:spcAft>
                <a:spcPts val="500"/>
              </a:spcAft>
              <a:buNone/>
            </a:pPr>
            <a:r>
              <a:rPr sz="1700" b="1" i="0">
                <a:solidFill>
                  <a:srgbClr val="0070C0"/>
                </a:solidFill>
                <a:latin typeface="Calibri"/>
              </a:rPr>
              <a:t>Why this matters commercially</a:t>
            </a:r>
          </a:p>
          <a:p>
            <a:pPr algn="l">
              <a:lnSpc>
                <a:spcPct val="98000"/>
              </a:lnSpc>
              <a:spcAft>
                <a:spcPts val="0"/>
              </a:spcAft>
              <a:buNone/>
            </a:pPr>
            <a:r>
              <a:rPr sz="1500" b="0" i="0">
                <a:solidFill>
                  <a:srgbClr val="1A1F26"/>
                </a:solidFill>
                <a:latin typeface="Calibri"/>
              </a:rPr>
              <a:t>Most of the effort in a resource estimate is spent getting data into the tool, not estimating. The pipeline takes the files as they arrive from the lab and the logger. A data problem raises a flag carried to a banner at the top of the report; only three conditions stop the run altogether.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mine_logo.jpg"/>
          <p:cNvPicPr>
            <a:picLocks noChangeAspect="1"/>
          </p:cNvPicPr>
          <p:nvPr/>
        </p:nvPicPr>
        <p:blipFill>
          <a:blip r:embed="rId4"/>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tIns="0" rIns="18288" bIns="0" anchor="t">
            <a:spAutoFit/>
          </a:bodyPr>
          <a:lstStyle/>
          <a:p>
            <a:pPr algn="l">
              <a:spcAft>
                <a:spcPts val="0"/>
              </a:spcAft>
              <a:buNone/>
            </a:pPr>
            <a:r>
              <a:rPr sz="3600" b="1" i="0">
                <a:solidFill>
                  <a:srgbClr val="00B050"/>
                </a:solidFill>
                <a:latin typeface="Calibri"/>
              </a:rPr>
              <a:t>Stages 2–6 — Building the Orebody Solid</a:t>
            </a:r>
          </a:p>
        </p:txBody>
      </p:sp>
      <p:sp>
        <p:nvSpPr>
          <p:cNvPr id="8" name="TextBox 7"/>
          <p:cNvSpPr txBox="1"/>
          <p:nvPr/>
        </p:nvSpPr>
        <p:spPr>
          <a:xfrm>
            <a:off x="384048" y="987552"/>
            <a:ext cx="9601200" cy="457200"/>
          </a:xfrm>
          <a:prstGeom prst="rect">
            <a:avLst/>
          </a:prstGeom>
          <a:noFill/>
        </p:spPr>
        <p:txBody>
          <a:bodyPr wrap="square" lIns="18288" tIns="0" rIns="18288" bIns="0" anchor="t">
            <a:spAutoFit/>
          </a:bodyPr>
          <a:lstStyle/>
          <a:p>
            <a:pPr algn="l">
              <a:spcAft>
                <a:spcPts val="0"/>
              </a:spcAft>
              <a:buNone/>
            </a:pPr>
            <a:r>
              <a:rPr sz="2400" b="1" i="0">
                <a:solidFill>
                  <a:srgbClr val="0070C0"/>
                </a:solidFill>
                <a:latin typeface="Calibri"/>
              </a:rPr>
              <a:t>Desurvey · composite · cap · domain · wireframe</a:t>
            </a:r>
          </a:p>
        </p:txBody>
      </p:sp>
      <p:pic>
        <p:nvPicPr>
          <p:cNvPr id="9" name="orebody_turntable.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961888" y="2066543"/>
            <a:ext cx="5303520" cy="3355848"/>
          </a:xfrm>
          <a:prstGeom prst="rect">
            <a:avLst/>
          </a:prstGeom>
        </p:spPr>
      </p:pic>
      <p:sp>
        <p:nvSpPr>
          <p:cNvPr id="10" name="TextBox 9"/>
          <p:cNvSpPr txBox="1"/>
          <p:nvPr/>
        </p:nvSpPr>
        <p:spPr>
          <a:xfrm>
            <a:off x="5961888" y="5477256"/>
            <a:ext cx="5303520" cy="365760"/>
          </a:xfrm>
          <a:prstGeom prst="rect">
            <a:avLst/>
          </a:prstGeom>
          <a:noFill/>
        </p:spPr>
        <p:txBody>
          <a:bodyPr wrap="square" lIns="18288" tIns="0" rIns="18288" bIns="0" anchor="t">
            <a:spAutoFit/>
          </a:bodyPr>
          <a:lstStyle/>
          <a:p>
            <a:pPr algn="ctr">
              <a:spcAft>
                <a:spcPts val="0"/>
              </a:spcAft>
              <a:buNone/>
            </a:pPr>
            <a:r>
              <a:rPr sz="1100" b="0" i="1">
                <a:solidFill>
                  <a:srgbClr val="5A6673"/>
                </a:solidFill>
                <a:latin typeface="Calibri"/>
              </a:rPr>
              <a:t>66 drillholes coloured by grade, the lofted orebody solid and the ultimate pit shell — this view turns by itself through the whole slide</a:t>
            </a:r>
          </a:p>
        </p:txBody>
      </p:sp>
      <p:sp>
        <p:nvSpPr>
          <p:cNvPr id="11" name="Rounded Rectangle 10">
            <a:hlinkClick r:id="rId6"/>
          </p:cNvPr>
          <p:cNvSpPr/>
          <p:nvPr/>
        </p:nvSpPr>
        <p:spPr>
          <a:xfrm>
            <a:off x="6967728" y="5897880"/>
            <a:ext cx="3291840" cy="384048"/>
          </a:xfrm>
          <a:prstGeom prst="roundRect">
            <a:avLst>
              <a:gd name="adj" fmla="val 2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Aft>
                <a:spcPts val="0"/>
              </a:spcAft>
              <a:buNone/>
            </a:pPr>
            <a:r>
              <a:rPr sz="1300" b="1" i="0">
                <a:solidFill>
                  <a:srgbClr val="FFFFFF"/>
                </a:solidFill>
                <a:latin typeface="Calibri"/>
              </a:rPr>
              <a:t>▶  Open the live 3D model</a:t>
            </a:r>
          </a:p>
        </p:txBody>
      </p:sp>
      <p:sp>
        <p:nvSpPr>
          <p:cNvPr id="12" name="TextBox 11"/>
          <p:cNvSpPr txBox="1"/>
          <p:nvPr/>
        </p:nvSpPr>
        <p:spPr>
          <a:xfrm>
            <a:off x="530352" y="1591056"/>
            <a:ext cx="5166360" cy="2651760"/>
          </a:xfrm>
          <a:prstGeom prst="rect">
            <a:avLst/>
          </a:prstGeom>
          <a:noFill/>
        </p:spPr>
        <p:txBody>
          <a:bodyPr wrap="square" lIns="18288" tIns="0" rIns="18288" bIns="0" anchor="t">
            <a:spAutoFit/>
          </a:bodyPr>
          <a:lstStyle/>
          <a:p>
            <a:pPr marL="201168" indent="-164592" algn="l">
              <a:lnSpc>
                <a:spcPct val="97000"/>
              </a:lnSpc>
              <a:spcAft>
                <a:spcPts val="1000"/>
              </a:spcAft>
              <a:buFont typeface="Arial"/>
              <a:buChar char="•"/>
            </a:pPr>
            <a:r>
              <a:rPr sz="1550" b="1" i="0">
                <a:solidFill>
                  <a:srgbClr val="0070C0"/>
                </a:solidFill>
                <a:latin typeface="Calibri"/>
              </a:rPr>
              <a:t>Minimum-curvature desurvey </a:t>
            </a:r>
            <a:r>
              <a:rPr sz="1550" b="0" i="0">
                <a:solidFill>
                  <a:srgbClr val="1A1F26"/>
                </a:solidFill>
                <a:latin typeface="Calibri"/>
              </a:rPr>
              <a:t>places every sample in 3D from the standard ratio-factor formula.</a:t>
            </a:r>
          </a:p>
          <a:p>
            <a:pPr marL="201168" indent="-164592" algn="l">
              <a:lnSpc>
                <a:spcPct val="97000"/>
              </a:lnSpc>
              <a:spcAft>
                <a:spcPts val="1000"/>
              </a:spcAft>
              <a:buFont typeface="Arial"/>
              <a:buChar char="•"/>
            </a:pPr>
            <a:r>
              <a:rPr sz="1550" b="1" i="0">
                <a:solidFill>
                  <a:srgbClr val="0070C0"/>
                </a:solidFill>
                <a:latin typeface="Calibri"/>
              </a:rPr>
              <a:t>Length-weighted compositing </a:t>
            </a:r>
            <a:r>
              <a:rPr sz="1550" b="0" i="0">
                <a:solidFill>
                  <a:srgbClr val="1A1F26"/>
                </a:solidFill>
                <a:latin typeface="Calibri"/>
              </a:rPr>
              <a:t>puts ragged samples on a common support — 16,506 raw samples became 16,866 composites at 1.00 m.</a:t>
            </a:r>
          </a:p>
          <a:p>
            <a:pPr marL="201168" indent="-164592" algn="l">
              <a:lnSpc>
                <a:spcPct val="97000"/>
              </a:lnSpc>
              <a:spcAft>
                <a:spcPts val="1000"/>
              </a:spcAft>
              <a:buFont typeface="Arial"/>
              <a:buChar char="•"/>
            </a:pPr>
            <a:r>
              <a:rPr sz="1550" b="1" i="0">
                <a:solidFill>
                  <a:srgbClr val="0070C0"/>
                </a:solidFill>
                <a:latin typeface="Calibri"/>
              </a:rPr>
              <a:t>A 99th-percentile top cut </a:t>
            </a:r>
            <a:r>
              <a:rPr sz="1550" b="0" i="0">
                <a:solidFill>
                  <a:srgbClr val="1A1F26"/>
                </a:solidFill>
                <a:latin typeface="Calibri"/>
              </a:rPr>
              <a:t>caps outliers and reports how much contained metal the cap removed.</a:t>
            </a:r>
          </a:p>
          <a:p>
            <a:pPr marL="201168" indent="-164592" algn="l">
              <a:lnSpc>
                <a:spcPct val="97000"/>
              </a:lnSpc>
              <a:spcAft>
                <a:spcPts val="1000"/>
              </a:spcAft>
              <a:buFont typeface="Arial"/>
              <a:buChar char="•"/>
            </a:pPr>
            <a:r>
              <a:rPr sz="1550" b="1" i="0">
                <a:solidFill>
                  <a:srgbClr val="0070C0"/>
                </a:solidFill>
                <a:latin typeface="Calibri"/>
              </a:rPr>
              <a:t>Sections are lofted into a closed solid, </a:t>
            </a:r>
            <a:r>
              <a:rPr sz="1550" b="0" i="0">
                <a:solidFill>
                  <a:srgbClr val="1A1F26"/>
                </a:solidFill>
                <a:latin typeface="Calibri"/>
              </a:rPr>
              <a:t>resampled in polar coordinates so the loft cannot twist.</a:t>
            </a:r>
          </a:p>
        </p:txBody>
      </p:sp>
      <p:sp>
        <p:nvSpPr>
          <p:cNvPr id="13" name="TextBox 12"/>
          <p:cNvSpPr txBox="1"/>
          <p:nvPr/>
        </p:nvSpPr>
        <p:spPr>
          <a:xfrm>
            <a:off x="530352" y="4133087"/>
            <a:ext cx="5212080" cy="457200"/>
          </a:xfrm>
          <a:prstGeom prst="rect">
            <a:avLst/>
          </a:prstGeom>
          <a:noFill/>
        </p:spPr>
        <p:txBody>
          <a:bodyPr wrap="square" lIns="18288" tIns="0" rIns="18288" bIns="0" anchor="t">
            <a:spAutoFit/>
          </a:bodyPr>
          <a:lstStyle/>
          <a:p>
            <a:pPr algn="l">
              <a:spcAft>
                <a:spcPts val="0"/>
              </a:spcAft>
              <a:buNone/>
            </a:pPr>
            <a:r>
              <a:rPr sz="1800" b="1" i="0">
                <a:solidFill>
                  <a:srgbClr val="0070C0"/>
                </a:solidFill>
                <a:latin typeface="Calibri"/>
              </a:rPr>
              <a:t>All six wireframe checks passed</a:t>
            </a:r>
          </a:p>
        </p:txBody>
      </p:sp>
      <p:graphicFrame>
        <p:nvGraphicFramePr>
          <p:cNvPr id="14" name="Table 13"/>
          <p:cNvGraphicFramePr>
            <a:graphicFrameLocks noGrp="1"/>
          </p:cNvGraphicFramePr>
          <p:nvPr/>
        </p:nvGraphicFramePr>
        <p:xfrm>
          <a:off x="530352" y="4553712"/>
          <a:ext cx="5166360" cy="1600200"/>
        </p:xfrm>
        <a:graphic>
          <a:graphicData uri="http://schemas.openxmlformats.org/drawingml/2006/table">
            <a:tbl>
              <a:tblPr firstRow="1">
                <a:tableStyleId>{5C22544A-7EE6-4342-B048-85BDC9FD1C3A}</a:tableStyleId>
              </a:tblPr>
              <a:tblGrid>
                <a:gridCol w="347472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tblGrid>
              <a:tr h="228600">
                <a:tc>
                  <a:txBody>
                    <a:bodyPr/>
                    <a:lstStyle/>
                    <a:p>
                      <a:pPr algn="l">
                        <a:spcAft>
                          <a:spcPts val="0"/>
                        </a:spcAft>
                        <a:buNone/>
                      </a:pPr>
                      <a:r>
                        <a:rPr sz="1250" b="1" i="0">
                          <a:solidFill>
                            <a:srgbClr val="FFFFFF"/>
                          </a:solidFill>
                          <a:latin typeface="Calibri"/>
                        </a:rPr>
                        <a:t>Validation check</a:t>
                      </a:r>
                    </a:p>
                  </a:txBody>
                  <a:tcPr marL="73152" marR="54864" marT="18288" marB="18288" anchor="ctr">
                    <a:solidFill>
                      <a:srgbClr val="0070C0"/>
                    </a:solidFill>
                  </a:tcPr>
                </a:tc>
                <a:tc>
                  <a:txBody>
                    <a:bodyPr/>
                    <a:lstStyle/>
                    <a:p>
                      <a:pPr algn="l">
                        <a:spcAft>
                          <a:spcPts val="0"/>
                        </a:spcAft>
                        <a:buNone/>
                      </a:pPr>
                      <a:r>
                        <a:rPr sz="1250" b="1" i="0">
                          <a:solidFill>
                            <a:srgbClr val="FFFFFF"/>
                          </a:solidFill>
                          <a:latin typeface="Calibri"/>
                        </a:rPr>
                        <a:t>Result</a:t>
                      </a:r>
                    </a:p>
                  </a:txBody>
                  <a:tcPr marL="73152" marR="54864" marT="18288" marB="18288" anchor="ctr">
                    <a:solidFill>
                      <a:srgbClr val="0070C0"/>
                    </a:solidFill>
                  </a:tcPr>
                </a:tc>
                <a:extLst>
                  <a:ext uri="{0D108BD9-81ED-4DB2-BD59-A6C34878D82A}">
                    <a16:rowId xmlns:a16="http://schemas.microsoft.com/office/drawing/2014/main" val="10000"/>
                  </a:ext>
                </a:extLst>
              </a:tr>
              <a:tr h="228600">
                <a:tc>
                  <a:txBody>
                    <a:bodyPr/>
                    <a:lstStyle/>
                    <a:p>
                      <a:pPr algn="l">
                        <a:spcAft>
                          <a:spcPts val="0"/>
                        </a:spcAft>
                        <a:buNone/>
                      </a:pPr>
                      <a:r>
                        <a:rPr sz="1250" b="0" i="0">
                          <a:solidFill>
                            <a:srgbClr val="1A1F26"/>
                          </a:solidFill>
                          <a:latin typeface="Calibri"/>
                        </a:rPr>
                        <a:t>Watertight (closed)</a:t>
                      </a:r>
                    </a:p>
                  </a:txBody>
                  <a:tcPr marL="73152" marR="54864" marT="18288" marB="18288" anchor="ctr">
                    <a:solidFill>
                      <a:srgbClr val="FFFFFF"/>
                    </a:solidFill>
                  </a:tcPr>
                </a:tc>
                <a:tc>
                  <a:txBody>
                    <a:bodyPr/>
                    <a:lstStyle/>
                    <a:p>
                      <a:pPr algn="l">
                        <a:spcAft>
                          <a:spcPts val="0"/>
                        </a:spcAft>
                        <a:buNone/>
                      </a:pPr>
                      <a:r>
                        <a:rPr sz="1250" b="1" i="0">
                          <a:solidFill>
                            <a:srgbClr val="176B3A"/>
                          </a:solidFill>
                          <a:latin typeface="Calibri"/>
                        </a:rPr>
                        <a:t>pass</a:t>
                      </a:r>
                    </a:p>
                  </a:txBody>
                  <a:tcPr marL="73152" marR="54864" marT="18288" marB="18288" anchor="ctr">
                    <a:solidFill>
                      <a:srgbClr val="FFFFFF"/>
                    </a:solidFill>
                  </a:tcPr>
                </a:tc>
                <a:extLst>
                  <a:ext uri="{0D108BD9-81ED-4DB2-BD59-A6C34878D82A}">
                    <a16:rowId xmlns:a16="http://schemas.microsoft.com/office/drawing/2014/main" val="10001"/>
                  </a:ext>
                </a:extLst>
              </a:tr>
              <a:tr h="228600">
                <a:tc>
                  <a:txBody>
                    <a:bodyPr/>
                    <a:lstStyle/>
                    <a:p>
                      <a:pPr algn="l">
                        <a:spcAft>
                          <a:spcPts val="0"/>
                        </a:spcAft>
                        <a:buNone/>
                      </a:pPr>
                      <a:r>
                        <a:rPr sz="1250" b="0" i="0">
                          <a:solidFill>
                            <a:srgbClr val="1A1F26"/>
                          </a:solidFill>
                          <a:latin typeface="Calibri"/>
                        </a:rPr>
                        <a:t>No non-manifold edges</a:t>
                      </a:r>
                    </a:p>
                  </a:txBody>
                  <a:tcPr marL="73152" marR="54864" marT="18288" marB="18288" anchor="ctr">
                    <a:solidFill>
                      <a:srgbClr val="F2F5F8"/>
                    </a:solidFill>
                  </a:tcPr>
                </a:tc>
                <a:tc>
                  <a:txBody>
                    <a:bodyPr/>
                    <a:lstStyle/>
                    <a:p>
                      <a:pPr algn="l">
                        <a:spcAft>
                          <a:spcPts val="0"/>
                        </a:spcAft>
                        <a:buNone/>
                      </a:pPr>
                      <a:r>
                        <a:rPr sz="1250" b="1" i="0">
                          <a:solidFill>
                            <a:srgbClr val="176B3A"/>
                          </a:solidFill>
                          <a:latin typeface="Calibri"/>
                        </a:rPr>
                        <a:t>pass</a:t>
                      </a:r>
                    </a:p>
                  </a:txBody>
                  <a:tcPr marL="73152" marR="54864" marT="18288" marB="18288" anchor="ctr">
                    <a:solidFill>
                      <a:srgbClr val="F2F5F8"/>
                    </a:solidFill>
                  </a:tcPr>
                </a:tc>
                <a:extLst>
                  <a:ext uri="{0D108BD9-81ED-4DB2-BD59-A6C34878D82A}">
                    <a16:rowId xmlns:a16="http://schemas.microsoft.com/office/drawing/2014/main" val="10002"/>
                  </a:ext>
                </a:extLst>
              </a:tr>
              <a:tr h="228600">
                <a:tc>
                  <a:txBody>
                    <a:bodyPr/>
                    <a:lstStyle/>
                    <a:p>
                      <a:pPr algn="l">
                        <a:spcAft>
                          <a:spcPts val="0"/>
                        </a:spcAft>
                        <a:buNone/>
                      </a:pPr>
                      <a:r>
                        <a:rPr sz="1250" b="0" i="0">
                          <a:solidFill>
                            <a:srgbClr val="1A1F26"/>
                          </a:solidFill>
                          <a:latin typeface="Calibri"/>
                        </a:rPr>
                        <a:t>Single connected surface</a:t>
                      </a:r>
                    </a:p>
                  </a:txBody>
                  <a:tcPr marL="73152" marR="54864" marT="18288" marB="18288" anchor="ctr">
                    <a:solidFill>
                      <a:srgbClr val="FFFFFF"/>
                    </a:solidFill>
                  </a:tcPr>
                </a:tc>
                <a:tc>
                  <a:txBody>
                    <a:bodyPr/>
                    <a:lstStyle/>
                    <a:p>
                      <a:pPr algn="l">
                        <a:spcAft>
                          <a:spcPts val="0"/>
                        </a:spcAft>
                        <a:buNone/>
                      </a:pPr>
                      <a:r>
                        <a:rPr sz="1250" b="1" i="0">
                          <a:solidFill>
                            <a:srgbClr val="176B3A"/>
                          </a:solidFill>
                          <a:latin typeface="Calibri"/>
                        </a:rPr>
                        <a:t>pass</a:t>
                      </a:r>
                    </a:p>
                  </a:txBody>
                  <a:tcPr marL="73152" marR="54864" marT="18288" marB="18288" anchor="ctr">
                    <a:solidFill>
                      <a:srgbClr val="FFFFFF"/>
                    </a:solidFill>
                  </a:tcPr>
                </a:tc>
                <a:extLst>
                  <a:ext uri="{0D108BD9-81ED-4DB2-BD59-A6C34878D82A}">
                    <a16:rowId xmlns:a16="http://schemas.microsoft.com/office/drawing/2014/main" val="10003"/>
                  </a:ext>
                </a:extLst>
              </a:tr>
              <a:tr h="228600">
                <a:tc>
                  <a:txBody>
                    <a:bodyPr/>
                    <a:lstStyle/>
                    <a:p>
                      <a:pPr algn="l">
                        <a:spcAft>
                          <a:spcPts val="0"/>
                        </a:spcAft>
                        <a:buNone/>
                      </a:pPr>
                      <a:r>
                        <a:rPr sz="1250" b="0" i="0">
                          <a:solidFill>
                            <a:srgbClr val="1A1F26"/>
                          </a:solidFill>
                          <a:latin typeface="Calibri"/>
                        </a:rPr>
                        <a:t>No duplicates / zero-area</a:t>
                      </a:r>
                    </a:p>
                  </a:txBody>
                  <a:tcPr marL="73152" marR="54864" marT="18288" marB="18288" anchor="ctr">
                    <a:solidFill>
                      <a:srgbClr val="F2F5F8"/>
                    </a:solidFill>
                  </a:tcPr>
                </a:tc>
                <a:tc>
                  <a:txBody>
                    <a:bodyPr/>
                    <a:lstStyle/>
                    <a:p>
                      <a:pPr algn="l">
                        <a:spcAft>
                          <a:spcPts val="0"/>
                        </a:spcAft>
                        <a:buNone/>
                      </a:pPr>
                      <a:r>
                        <a:rPr sz="1250" b="1" i="0">
                          <a:solidFill>
                            <a:srgbClr val="176B3A"/>
                          </a:solidFill>
                          <a:latin typeface="Calibri"/>
                        </a:rPr>
                        <a:t>pass</a:t>
                      </a:r>
                    </a:p>
                  </a:txBody>
                  <a:tcPr marL="73152" marR="54864" marT="18288" marB="18288" anchor="ctr">
                    <a:solidFill>
                      <a:srgbClr val="F2F5F8"/>
                    </a:solidFill>
                  </a:tcPr>
                </a:tc>
                <a:extLst>
                  <a:ext uri="{0D108BD9-81ED-4DB2-BD59-A6C34878D82A}">
                    <a16:rowId xmlns:a16="http://schemas.microsoft.com/office/drawing/2014/main" val="10004"/>
                  </a:ext>
                </a:extLst>
              </a:tr>
              <a:tr h="228600">
                <a:tc>
                  <a:txBody>
                    <a:bodyPr/>
                    <a:lstStyle/>
                    <a:p>
                      <a:pPr algn="l">
                        <a:spcAft>
                          <a:spcPts val="0"/>
                        </a:spcAft>
                        <a:buNone/>
                      </a:pPr>
                      <a:r>
                        <a:rPr sz="1250" b="0" i="0">
                          <a:solidFill>
                            <a:srgbClr val="1A1F26"/>
                          </a:solidFill>
                          <a:latin typeface="Calibri"/>
                        </a:rPr>
                        <a:t>Consistent outward winding</a:t>
                      </a:r>
                    </a:p>
                  </a:txBody>
                  <a:tcPr marL="73152" marR="54864" marT="18288" marB="18288" anchor="ctr">
                    <a:solidFill>
                      <a:srgbClr val="FFFFFF"/>
                    </a:solidFill>
                  </a:tcPr>
                </a:tc>
                <a:tc>
                  <a:txBody>
                    <a:bodyPr/>
                    <a:lstStyle/>
                    <a:p>
                      <a:pPr algn="l">
                        <a:spcAft>
                          <a:spcPts val="0"/>
                        </a:spcAft>
                        <a:buNone/>
                      </a:pPr>
                      <a:r>
                        <a:rPr sz="1250" b="1" i="0">
                          <a:solidFill>
                            <a:srgbClr val="176B3A"/>
                          </a:solidFill>
                          <a:latin typeface="Calibri"/>
                        </a:rPr>
                        <a:t>pass</a:t>
                      </a:r>
                    </a:p>
                  </a:txBody>
                  <a:tcPr marL="73152" marR="54864" marT="18288" marB="18288" anchor="ctr">
                    <a:solidFill>
                      <a:srgbClr val="FFFFFF"/>
                    </a:solidFill>
                  </a:tcPr>
                </a:tc>
                <a:extLst>
                  <a:ext uri="{0D108BD9-81ED-4DB2-BD59-A6C34878D82A}">
                    <a16:rowId xmlns:a16="http://schemas.microsoft.com/office/drawing/2014/main" val="10005"/>
                  </a:ext>
                </a:extLst>
              </a:tr>
              <a:tr h="228600">
                <a:tc>
                  <a:txBody>
                    <a:bodyPr/>
                    <a:lstStyle/>
                    <a:p>
                      <a:pPr algn="l">
                        <a:spcAft>
                          <a:spcPts val="0"/>
                        </a:spcAft>
                        <a:buNone/>
                      </a:pPr>
                      <a:r>
                        <a:rPr sz="1250" b="0" i="0">
                          <a:solidFill>
                            <a:srgbClr val="1A1F26"/>
                          </a:solidFill>
                          <a:latin typeface="Calibri"/>
                        </a:rPr>
                        <a:t>No self-intersection</a:t>
                      </a:r>
                    </a:p>
                  </a:txBody>
                  <a:tcPr marL="73152" marR="54864" marT="18288" marB="18288" anchor="ctr">
                    <a:solidFill>
                      <a:srgbClr val="F2F5F8"/>
                    </a:solidFill>
                  </a:tcPr>
                </a:tc>
                <a:tc>
                  <a:txBody>
                    <a:bodyPr/>
                    <a:lstStyle/>
                    <a:p>
                      <a:pPr algn="l">
                        <a:spcAft>
                          <a:spcPts val="0"/>
                        </a:spcAft>
                        <a:buNone/>
                      </a:pPr>
                      <a:r>
                        <a:rPr sz="1250" b="1" i="0">
                          <a:solidFill>
                            <a:srgbClr val="176B3A"/>
                          </a:solidFill>
                          <a:latin typeface="Calibri"/>
                        </a:rPr>
                        <a:t>pass</a:t>
                      </a:r>
                    </a:p>
                  </a:txBody>
                  <a:tcPr marL="73152" marR="54864" marT="18288" marB="18288" anchor="ctr">
                    <a:solidFill>
                      <a:srgbClr val="F2F5F8"/>
                    </a:solidFill>
                  </a:tcPr>
                </a:tc>
                <a:extLst>
                  <a:ext uri="{0D108BD9-81ED-4DB2-BD59-A6C34878D82A}">
                    <a16:rowId xmlns:a16="http://schemas.microsoft.com/office/drawing/2014/main" val="10006"/>
                  </a:ext>
                </a:extLst>
              </a:tr>
            </a:tbl>
          </a:graphicData>
        </a:graphic>
      </p:graphicFrame>
      <p:sp>
        <p:nvSpPr>
          <p:cNvPr id="15" name="TextBox 14"/>
          <p:cNvSpPr txBox="1"/>
          <p:nvPr/>
        </p:nvSpPr>
        <p:spPr>
          <a:xfrm>
            <a:off x="530352" y="6236208"/>
            <a:ext cx="5394960" cy="365760"/>
          </a:xfrm>
          <a:prstGeom prst="rect">
            <a:avLst/>
          </a:prstGeom>
          <a:noFill/>
        </p:spPr>
        <p:txBody>
          <a:bodyPr wrap="square" lIns="18288" tIns="0" rIns="18288" bIns="0" anchor="t">
            <a:spAutoFit/>
          </a:bodyPr>
          <a:lstStyle/>
          <a:p>
            <a:pPr algn="l">
              <a:spcAft>
                <a:spcPts val="0"/>
              </a:spcAft>
              <a:buNone/>
            </a:pPr>
            <a:r>
              <a:rPr sz="1100" b="0" i="1">
                <a:solidFill>
                  <a:srgbClr val="5A6673"/>
                </a:solidFill>
                <a:latin typeface="Calibri"/>
              </a:rPr>
              <a:t>Volume 6,007,755 m³  ·  surface 235,719 m²  ·  290 vertices, 576 triangles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tIns="0" rIns="18288" bIns="0" anchor="t">
            <a:spAutoFit/>
          </a:bodyPr>
          <a:lstStyle/>
          <a:p>
            <a:pPr algn="l">
              <a:spcAft>
                <a:spcPts val="0"/>
              </a:spcAft>
              <a:buNone/>
            </a:pPr>
            <a:r>
              <a:rPr sz="3600" b="1" i="0">
                <a:solidFill>
                  <a:srgbClr val="00B050"/>
                </a:solidFill>
                <a:latin typeface="Calibri"/>
              </a:rPr>
              <a:t>Stages 7–8 — Grade Estimation</a:t>
            </a:r>
          </a:p>
        </p:txBody>
      </p:sp>
      <p:sp>
        <p:nvSpPr>
          <p:cNvPr id="8" name="TextBox 7"/>
          <p:cNvSpPr txBox="1"/>
          <p:nvPr/>
        </p:nvSpPr>
        <p:spPr>
          <a:xfrm>
            <a:off x="384048" y="987552"/>
            <a:ext cx="9601200" cy="457200"/>
          </a:xfrm>
          <a:prstGeom prst="rect">
            <a:avLst/>
          </a:prstGeom>
          <a:noFill/>
        </p:spPr>
        <p:txBody>
          <a:bodyPr wrap="square" lIns="18288" tIns="0" rIns="18288" bIns="0" anchor="t">
            <a:spAutoFit/>
          </a:bodyPr>
          <a:lstStyle/>
          <a:p>
            <a:pPr algn="l">
              <a:spcAft>
                <a:spcPts val="0"/>
              </a:spcAft>
              <a:buNone/>
            </a:pPr>
            <a:r>
              <a:rPr sz="2400" b="1" i="0">
                <a:solidFill>
                  <a:srgbClr val="0070C0"/>
                </a:solidFill>
                <a:latin typeface="Calibri"/>
              </a:rPr>
              <a:t>Ordinary kriging with a moving search neighbourhood</a:t>
            </a:r>
          </a:p>
        </p:txBody>
      </p:sp>
      <p:pic>
        <p:nvPicPr>
          <p:cNvPr id="9" name="Picture 8" descr="scene_blocks.png"/>
          <p:cNvPicPr>
            <a:picLocks noChangeAspect="1"/>
          </p:cNvPicPr>
          <p:nvPr/>
        </p:nvPicPr>
        <p:blipFill>
          <a:blip r:embed="rId3"/>
          <a:stretch>
            <a:fillRect/>
          </a:stretch>
        </p:blipFill>
        <p:spPr>
          <a:xfrm>
            <a:off x="530352" y="1517904"/>
            <a:ext cx="5303520" cy="3774958"/>
          </a:xfrm>
          <a:prstGeom prst="rect">
            <a:avLst/>
          </a:prstGeom>
        </p:spPr>
      </p:pic>
      <p:sp>
        <p:nvSpPr>
          <p:cNvPr id="10" name="TextBox 9"/>
          <p:cNvSpPr txBox="1"/>
          <p:nvPr/>
        </p:nvSpPr>
        <p:spPr>
          <a:xfrm>
            <a:off x="530352" y="5358384"/>
            <a:ext cx="5303520" cy="365760"/>
          </a:xfrm>
          <a:prstGeom prst="rect">
            <a:avLst/>
          </a:prstGeom>
          <a:noFill/>
        </p:spPr>
        <p:txBody>
          <a:bodyPr wrap="square" lIns="18288" tIns="0" rIns="18288" bIns="0" anchor="t">
            <a:spAutoFit/>
          </a:bodyPr>
          <a:lstStyle/>
          <a:p>
            <a:pPr algn="ctr">
              <a:spcAft>
                <a:spcPts val="0"/>
              </a:spcAft>
              <a:buNone/>
            </a:pPr>
            <a:r>
              <a:rPr sz="1100" b="0" i="1">
                <a:solidFill>
                  <a:srgbClr val="5A6673"/>
                </a:solidFill>
                <a:latin typeface="Calibri"/>
              </a:rPr>
              <a:t>668 ore blocks of 20 × 20 × 20 m coloured by estimated grade, inside the pit shell</a:t>
            </a:r>
          </a:p>
        </p:txBody>
      </p:sp>
      <p:pic>
        <p:nvPicPr>
          <p:cNvPr id="11" name="Picture 10" descr="chart_variogram.png"/>
          <p:cNvPicPr>
            <a:picLocks noChangeAspect="1"/>
          </p:cNvPicPr>
          <p:nvPr/>
        </p:nvPicPr>
        <p:blipFill>
          <a:blip r:embed="rId4"/>
          <a:stretch>
            <a:fillRect/>
          </a:stretch>
        </p:blipFill>
        <p:spPr>
          <a:xfrm>
            <a:off x="6144768" y="2103120"/>
            <a:ext cx="5394960" cy="3071104"/>
          </a:xfrm>
          <a:prstGeom prst="rect">
            <a:avLst/>
          </a:prstGeom>
        </p:spPr>
      </p:pic>
      <p:sp>
        <p:nvSpPr>
          <p:cNvPr id="12" name="TextBox 11"/>
          <p:cNvSpPr txBox="1"/>
          <p:nvPr/>
        </p:nvSpPr>
        <p:spPr>
          <a:xfrm>
            <a:off x="6144768" y="5230368"/>
            <a:ext cx="5394960" cy="365760"/>
          </a:xfrm>
          <a:prstGeom prst="rect">
            <a:avLst/>
          </a:prstGeom>
          <a:noFill/>
        </p:spPr>
        <p:txBody>
          <a:bodyPr wrap="square" lIns="18288" tIns="0" rIns="18288" bIns="0" anchor="t">
            <a:spAutoFit/>
          </a:bodyPr>
          <a:lstStyle/>
          <a:p>
            <a:pPr algn="ctr">
              <a:spcAft>
                <a:spcPts val="0"/>
              </a:spcAft>
              <a:buNone/>
            </a:pPr>
            <a:r>
              <a:rPr sz="1100" b="0" i="1">
                <a:solidFill>
                  <a:srgbClr val="5A6673"/>
                </a:solidFill>
                <a:latin typeface="Calibri"/>
              </a:rPr>
              <a:t>Experimental variograms with fitted models — along strike, across strike and vertically</a:t>
            </a:r>
          </a:p>
        </p:txBody>
      </p:sp>
      <p:sp>
        <p:nvSpPr>
          <p:cNvPr id="13" name="Rounded Rectangle 12"/>
          <p:cNvSpPr/>
          <p:nvPr/>
        </p:nvSpPr>
        <p:spPr>
          <a:xfrm>
            <a:off x="6144768" y="5577840"/>
            <a:ext cx="1719072" cy="86868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291072" y="5733288"/>
            <a:ext cx="1426463" cy="557783"/>
          </a:xfrm>
          <a:prstGeom prst="rect">
            <a:avLst/>
          </a:prstGeom>
          <a:noFill/>
        </p:spPr>
        <p:txBody>
          <a:bodyPr wrap="square" lIns="18288" tIns="0" rIns="18288" bIns="0" anchor="t">
            <a:spAutoFit/>
          </a:bodyPr>
          <a:lstStyle/>
          <a:p>
            <a:pPr algn="ctr">
              <a:spcAft>
                <a:spcPts val="200"/>
              </a:spcAft>
              <a:buNone/>
            </a:pPr>
            <a:r>
              <a:rPr sz="3000" b="1" i="0">
                <a:solidFill>
                  <a:srgbClr val="0070C0"/>
                </a:solidFill>
                <a:latin typeface="Calibri"/>
              </a:rPr>
              <a:t>139</a:t>
            </a:r>
            <a:r>
              <a:rPr sz="1600" b="0" i="0">
                <a:solidFill>
                  <a:srgbClr val="5A6673"/>
                </a:solidFill>
                <a:latin typeface="Calibri"/>
              </a:rPr>
              <a:t> m</a:t>
            </a:r>
          </a:p>
          <a:p>
            <a:pPr algn="ctr">
              <a:spcAft>
                <a:spcPts val="0"/>
              </a:spcAft>
              <a:buNone/>
            </a:pPr>
            <a:r>
              <a:rPr sz="1300" b="0" i="0">
                <a:solidFill>
                  <a:srgbClr val="5A6673"/>
                </a:solidFill>
                <a:latin typeface="Calibri"/>
              </a:rPr>
              <a:t>variogram range</a:t>
            </a:r>
          </a:p>
        </p:txBody>
      </p:sp>
      <p:sp>
        <p:nvSpPr>
          <p:cNvPr id="15" name="Rounded Rectangle 14"/>
          <p:cNvSpPr/>
          <p:nvPr/>
        </p:nvSpPr>
        <p:spPr>
          <a:xfrm>
            <a:off x="7982712" y="5577840"/>
            <a:ext cx="1719072" cy="868680"/>
          </a:xfrm>
          <a:prstGeom prst="roundRect">
            <a:avLst>
              <a:gd name="adj" fmla="val 6000"/>
            </a:avLst>
          </a:prstGeom>
          <a:solidFill>
            <a:srgbClr val="E9F5EC"/>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129016" y="5733288"/>
            <a:ext cx="1426463" cy="557783"/>
          </a:xfrm>
          <a:prstGeom prst="rect">
            <a:avLst/>
          </a:prstGeom>
          <a:noFill/>
        </p:spPr>
        <p:txBody>
          <a:bodyPr wrap="square" lIns="18288" tIns="0" rIns="18288" bIns="0" anchor="t">
            <a:spAutoFit/>
          </a:bodyPr>
          <a:lstStyle/>
          <a:p>
            <a:pPr algn="ctr">
              <a:spcAft>
                <a:spcPts val="200"/>
              </a:spcAft>
              <a:buNone/>
            </a:pPr>
            <a:r>
              <a:rPr sz="3000" b="1" i="0">
                <a:solidFill>
                  <a:srgbClr val="176B3A"/>
                </a:solidFill>
                <a:latin typeface="Calibri"/>
              </a:rPr>
              <a:t>0%</a:t>
            </a:r>
          </a:p>
          <a:p>
            <a:pPr algn="ctr">
              <a:spcAft>
                <a:spcPts val="0"/>
              </a:spcAft>
              <a:buNone/>
            </a:pPr>
            <a:r>
              <a:rPr sz="1300" b="0" i="0">
                <a:solidFill>
                  <a:srgbClr val="5A6673"/>
                </a:solidFill>
                <a:latin typeface="Calibri"/>
              </a:rPr>
              <a:t>nugget effect</a:t>
            </a:r>
          </a:p>
        </p:txBody>
      </p:sp>
      <p:sp>
        <p:nvSpPr>
          <p:cNvPr id="17" name="Rounded Rectangle 16"/>
          <p:cNvSpPr/>
          <p:nvPr/>
        </p:nvSpPr>
        <p:spPr>
          <a:xfrm>
            <a:off x="9820656" y="5577840"/>
            <a:ext cx="1719072" cy="86868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966960" y="5733288"/>
            <a:ext cx="1426463" cy="557783"/>
          </a:xfrm>
          <a:prstGeom prst="rect">
            <a:avLst/>
          </a:prstGeom>
          <a:noFill/>
        </p:spPr>
        <p:txBody>
          <a:bodyPr wrap="square" lIns="18288" tIns="0" rIns="18288" bIns="0" anchor="t">
            <a:spAutoFit/>
          </a:bodyPr>
          <a:lstStyle/>
          <a:p>
            <a:pPr algn="ctr">
              <a:spcAft>
                <a:spcPts val="200"/>
              </a:spcAft>
              <a:buNone/>
            </a:pPr>
            <a:r>
              <a:rPr sz="3000" b="1" i="0">
                <a:solidFill>
                  <a:srgbClr val="0070C0"/>
                </a:solidFill>
                <a:latin typeface="Calibri"/>
              </a:rPr>
              <a:t>5,760</a:t>
            </a:r>
          </a:p>
          <a:p>
            <a:pPr algn="ctr">
              <a:spcAft>
                <a:spcPts val="0"/>
              </a:spcAft>
              <a:buNone/>
            </a:pPr>
            <a:r>
              <a:rPr sz="1300" b="0" i="0">
                <a:solidFill>
                  <a:srgbClr val="5A6673"/>
                </a:solidFill>
                <a:latin typeface="Calibri"/>
              </a:rPr>
              <a:t>blocks estimated</a:t>
            </a:r>
          </a:p>
        </p:txBody>
      </p:sp>
      <p:sp>
        <p:nvSpPr>
          <p:cNvPr id="19" name="TextBox 18"/>
          <p:cNvSpPr txBox="1"/>
          <p:nvPr/>
        </p:nvSpPr>
        <p:spPr>
          <a:xfrm>
            <a:off x="530352" y="5760720"/>
            <a:ext cx="5303520" cy="365760"/>
          </a:xfrm>
          <a:prstGeom prst="rect">
            <a:avLst/>
          </a:prstGeom>
          <a:noFill/>
        </p:spPr>
        <p:txBody>
          <a:bodyPr wrap="square" lIns="18288" tIns="0" rIns="18288" bIns="0" anchor="t">
            <a:spAutoFit/>
          </a:bodyPr>
          <a:lstStyle/>
          <a:p>
            <a:pPr algn="l">
              <a:spcAft>
                <a:spcPts val="0"/>
              </a:spcAft>
              <a:buNone/>
            </a:pPr>
            <a:r>
              <a:rPr sz="1300" b="0" i="1">
                <a:solidFill>
                  <a:srgbClr val="5A6673"/>
                </a:solidFill>
                <a:latin typeface="Calibri"/>
              </a:rPr>
              <a:t>The variogram model, its parameters and the choice between kriging and inverse-distance weighting are decided once, then executed in code. Blocks with too few neighbours are left unestimated rather than extrapolated.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tIns="0" rIns="18288" bIns="0" anchor="t">
            <a:spAutoFit/>
          </a:bodyPr>
          <a:lstStyle/>
          <a:p>
            <a:pPr algn="l">
              <a:spcAft>
                <a:spcPts val="0"/>
              </a:spcAft>
              <a:buNone/>
            </a:pPr>
            <a:r>
              <a:rPr sz="3600" b="1" i="0">
                <a:solidFill>
                  <a:srgbClr val="00B050"/>
                </a:solidFill>
                <a:latin typeface="Calibri"/>
              </a:rPr>
              <a:t>Stages 11–13 — The Ultimate Pit Limit</a:t>
            </a:r>
          </a:p>
        </p:txBody>
      </p:sp>
      <p:sp>
        <p:nvSpPr>
          <p:cNvPr id="8" name="TextBox 7"/>
          <p:cNvSpPr txBox="1"/>
          <p:nvPr/>
        </p:nvSpPr>
        <p:spPr>
          <a:xfrm>
            <a:off x="384048" y="987552"/>
            <a:ext cx="9601200" cy="457200"/>
          </a:xfrm>
          <a:prstGeom prst="rect">
            <a:avLst/>
          </a:prstGeom>
          <a:noFill/>
        </p:spPr>
        <p:txBody>
          <a:bodyPr wrap="square" lIns="18288" tIns="0" rIns="18288" bIns="0" anchor="t">
            <a:spAutoFit/>
          </a:bodyPr>
          <a:lstStyle/>
          <a:p>
            <a:pPr algn="l">
              <a:spcAft>
                <a:spcPts val="0"/>
              </a:spcAft>
              <a:buNone/>
            </a:pPr>
            <a:r>
              <a:rPr sz="2400" b="1" i="0">
                <a:solidFill>
                  <a:srgbClr val="0070C0"/>
                </a:solidFill>
                <a:latin typeface="Calibri"/>
              </a:rPr>
              <a:t>The true optimum, not a heuristic</a:t>
            </a:r>
          </a:p>
        </p:txBody>
      </p:sp>
      <p:sp>
        <p:nvSpPr>
          <p:cNvPr id="9" name="TextBox 8"/>
          <p:cNvSpPr txBox="1"/>
          <p:nvPr/>
        </p:nvSpPr>
        <p:spPr>
          <a:xfrm>
            <a:off x="530352" y="1591056"/>
            <a:ext cx="5760720" cy="3108960"/>
          </a:xfrm>
          <a:prstGeom prst="rect">
            <a:avLst/>
          </a:prstGeom>
          <a:noFill/>
        </p:spPr>
        <p:txBody>
          <a:bodyPr wrap="square" lIns="18288" tIns="0" rIns="18288" bIns="0" anchor="t">
            <a:spAutoFit/>
          </a:bodyPr>
          <a:lstStyle/>
          <a:p>
            <a:pPr marL="201168" indent="-164592" algn="l">
              <a:lnSpc>
                <a:spcPct val="97000"/>
              </a:lnSpc>
              <a:spcAft>
                <a:spcPts val="1100"/>
              </a:spcAft>
              <a:buFont typeface="Arial"/>
              <a:buChar char="•"/>
            </a:pPr>
            <a:r>
              <a:rPr sz="1550" b="1" i="0">
                <a:solidFill>
                  <a:srgbClr val="0070C0"/>
                </a:solidFill>
                <a:latin typeface="Calibri"/>
              </a:rPr>
              <a:t>The pit is a maximum-weight closure. </a:t>
            </a:r>
            <a:r>
              <a:rPr sz="1550" b="0" i="0">
                <a:solidFill>
                  <a:srgbClr val="1A1F26"/>
                </a:solidFill>
                <a:latin typeface="Calibri"/>
              </a:rPr>
              <a:t>The best set of blocks to mine, subject to the rule that you cannot reach a block without removing everything above it.</a:t>
            </a:r>
          </a:p>
          <a:p>
            <a:pPr marL="201168" indent="-164592" algn="l">
              <a:lnSpc>
                <a:spcPct val="97000"/>
              </a:lnSpc>
              <a:spcAft>
                <a:spcPts val="1100"/>
              </a:spcAft>
              <a:buFont typeface="Arial"/>
              <a:buChar char="•"/>
            </a:pPr>
            <a:r>
              <a:rPr sz="1550" b="1" i="0">
                <a:solidFill>
                  <a:srgbClr val="0070C0"/>
                </a:solidFill>
                <a:latin typeface="Calibri"/>
              </a:rPr>
              <a:t>Solved exactly by minimum cut. </a:t>
            </a:r>
            <a:r>
              <a:rPr sz="1550" b="0" i="0">
                <a:solidFill>
                  <a:srgbClr val="1A1F26"/>
                </a:solidFill>
                <a:latin typeface="Calibri"/>
              </a:rPr>
              <a:t>Lerchs and Grossmann solved this in 1965; Picard showed in 1976 the same closure comes from a min-cut. That is what runs here — the same optimum, computed with a fast C solver.</a:t>
            </a:r>
          </a:p>
          <a:p>
            <a:pPr marL="201168" indent="-164592" algn="l">
              <a:lnSpc>
                <a:spcPct val="97000"/>
              </a:lnSpc>
              <a:spcAft>
                <a:spcPts val="1100"/>
              </a:spcAft>
              <a:buFont typeface="Arial"/>
              <a:buChar char="•"/>
            </a:pPr>
            <a:r>
              <a:rPr sz="1550" b="1" i="0">
                <a:solidFill>
                  <a:srgbClr val="0070C0"/>
                </a:solidFill>
                <a:latin typeface="Calibri"/>
              </a:rPr>
              <a:t>Checked against brute force. </a:t>
            </a:r>
            <a:r>
              <a:rPr sz="1550" b="0" i="0">
                <a:solidFill>
                  <a:srgbClr val="1A1F26"/>
                </a:solidFill>
                <a:latin typeface="Calibri"/>
              </a:rPr>
              <a:t>The test suite enumerates every subset on small grids and confirms the optimizer finds the true maximum, and that the result is a valid closure.</a:t>
            </a:r>
          </a:p>
          <a:p>
            <a:pPr marL="201168" indent="-164592" algn="l">
              <a:lnSpc>
                <a:spcPct val="97000"/>
              </a:lnSpc>
              <a:spcAft>
                <a:spcPts val="1100"/>
              </a:spcAft>
              <a:buFont typeface="Arial"/>
              <a:buChar char="•"/>
            </a:pPr>
            <a:r>
              <a:rPr sz="1550" b="1" i="0">
                <a:solidFill>
                  <a:srgbClr val="0070C0"/>
                </a:solidFill>
                <a:latin typeface="Calibri"/>
              </a:rPr>
              <a:t>Slope angles are reported honestly. </a:t>
            </a:r>
            <a:r>
              <a:rPr sz="1550" b="0" i="0">
                <a:solidFill>
                  <a:srgbClr val="1A1F26"/>
                </a:solidFill>
                <a:latin typeface="Calibri"/>
              </a:rPr>
              <a:t>A requested angle is quantized by the block size; the report states the angle actually achieved beside the one requested.</a:t>
            </a:r>
          </a:p>
        </p:txBody>
      </p:sp>
      <p:pic>
        <p:nvPicPr>
          <p:cNvPr id="10" name="Picture 9" descr="chart_shells.png"/>
          <p:cNvPicPr>
            <a:picLocks noChangeAspect="1"/>
          </p:cNvPicPr>
          <p:nvPr/>
        </p:nvPicPr>
        <p:blipFill>
          <a:blip r:embed="rId3"/>
          <a:stretch>
            <a:fillRect/>
          </a:stretch>
        </p:blipFill>
        <p:spPr>
          <a:xfrm>
            <a:off x="6537960" y="2103120"/>
            <a:ext cx="5029200" cy="2873829"/>
          </a:xfrm>
          <a:prstGeom prst="rect">
            <a:avLst/>
          </a:prstGeom>
        </p:spPr>
      </p:pic>
      <p:sp>
        <p:nvSpPr>
          <p:cNvPr id="11" name="TextBox 10"/>
          <p:cNvSpPr txBox="1"/>
          <p:nvPr/>
        </p:nvSpPr>
        <p:spPr>
          <a:xfrm>
            <a:off x="6537960" y="5010912"/>
            <a:ext cx="5029200" cy="365760"/>
          </a:xfrm>
          <a:prstGeom prst="rect">
            <a:avLst/>
          </a:prstGeom>
          <a:noFill/>
        </p:spPr>
        <p:txBody>
          <a:bodyPr wrap="square" lIns="18288" tIns="0" rIns="18288" bIns="0" anchor="t">
            <a:spAutoFit/>
          </a:bodyPr>
          <a:lstStyle/>
          <a:p>
            <a:pPr algn="ctr">
              <a:spcAft>
                <a:spcPts val="0"/>
              </a:spcAft>
              <a:buNone/>
            </a:pPr>
            <a:r>
              <a:rPr sz="1100" b="0" i="1">
                <a:solidFill>
                  <a:srgbClr val="5A6673"/>
                </a:solidFill>
                <a:latin typeface="Calibri"/>
              </a:rPr>
              <a:t>Nested pit shells — ore, waste and strip ratio across a sweep of revenue factors, showing how the pit responds to price</a:t>
            </a:r>
          </a:p>
        </p:txBody>
      </p:sp>
      <p:sp>
        <p:nvSpPr>
          <p:cNvPr id="12" name="Rounded Rectangle 11"/>
          <p:cNvSpPr/>
          <p:nvPr/>
        </p:nvSpPr>
        <p:spPr>
          <a:xfrm>
            <a:off x="530352" y="5440680"/>
            <a:ext cx="11091672" cy="1188720"/>
          </a:xfrm>
          <a:prstGeom prst="roundRect">
            <a:avLst>
              <a:gd name="adj" fmla="val 6000"/>
            </a:avLst>
          </a:prstGeom>
          <a:solidFill>
            <a:srgbClr val="FDECEB"/>
          </a:solidFill>
          <a:ln w="12700">
            <a:solidFill>
              <a:srgbClr val="F0C4C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49808" y="5577840"/>
            <a:ext cx="10652760" cy="960120"/>
          </a:xfrm>
          <a:prstGeom prst="rect">
            <a:avLst/>
          </a:prstGeom>
          <a:noFill/>
        </p:spPr>
        <p:txBody>
          <a:bodyPr wrap="square" lIns="18288" tIns="0" rIns="18288" bIns="0" anchor="t">
            <a:spAutoFit/>
          </a:bodyPr>
          <a:lstStyle/>
          <a:p>
            <a:pPr algn="l">
              <a:spcAft>
                <a:spcPts val="400"/>
              </a:spcAft>
              <a:buNone/>
            </a:pPr>
            <a:r>
              <a:rPr sz="1600" b="1" i="0">
                <a:solidFill>
                  <a:srgbClr val="B85042"/>
                </a:solidFill>
                <a:latin typeface="Calibri"/>
              </a:rPr>
              <a:t>One constraint that prevents a wrong answer</a:t>
            </a:r>
          </a:p>
          <a:p>
            <a:pPr algn="l">
              <a:lnSpc>
                <a:spcPct val="98000"/>
              </a:lnSpc>
              <a:spcAft>
                <a:spcPts val="0"/>
              </a:spcAft>
              <a:buNone/>
            </a:pPr>
            <a:r>
              <a:rPr sz="1500" b="0" i="0">
                <a:solidFill>
                  <a:srgbClr val="1A1F26"/>
                </a:solidFill>
                <a:latin typeface="Calibri"/>
              </a:rPr>
              <a:t>A block outside the wireframe is waste, whatever the estimator interpolated into it. Without that rule the optimizer sells grade smeared into the padding around the orebody and reports more ore in the pit than the deposit contains.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tIns="0" rIns="18288" bIns="0" anchor="t">
            <a:spAutoFit/>
          </a:bodyPr>
          <a:lstStyle/>
          <a:p>
            <a:pPr algn="l">
              <a:spcAft>
                <a:spcPts val="0"/>
              </a:spcAft>
              <a:buNone/>
            </a:pPr>
            <a:r>
              <a:rPr sz="3600" b="1" i="0">
                <a:solidFill>
                  <a:srgbClr val="00B050"/>
                </a:solidFill>
                <a:latin typeface="Calibri"/>
              </a:rPr>
              <a:t>Pit and Bench Design</a:t>
            </a:r>
          </a:p>
        </p:txBody>
      </p:sp>
      <p:sp>
        <p:nvSpPr>
          <p:cNvPr id="8" name="TextBox 7"/>
          <p:cNvSpPr txBox="1"/>
          <p:nvPr/>
        </p:nvSpPr>
        <p:spPr>
          <a:xfrm>
            <a:off x="384048" y="987552"/>
            <a:ext cx="9601200" cy="457200"/>
          </a:xfrm>
          <a:prstGeom prst="rect">
            <a:avLst/>
          </a:prstGeom>
          <a:noFill/>
        </p:spPr>
        <p:txBody>
          <a:bodyPr wrap="square" lIns="18288" tIns="0" rIns="18288" bIns="0" anchor="t">
            <a:spAutoFit/>
          </a:bodyPr>
          <a:lstStyle/>
          <a:p>
            <a:pPr algn="l">
              <a:spcAft>
                <a:spcPts val="0"/>
              </a:spcAft>
              <a:buNone/>
            </a:pPr>
            <a:r>
              <a:rPr sz="2400" b="1" i="0">
                <a:solidFill>
                  <a:srgbClr val="0070C0"/>
                </a:solidFill>
                <a:latin typeface="Calibri"/>
              </a:rPr>
              <a:t>An economic shell sliced into a real, bench-by-bench schedule</a:t>
            </a:r>
          </a:p>
        </p:txBody>
      </p:sp>
      <p:sp>
        <p:nvSpPr>
          <p:cNvPr id="9" name="Rounded Rectangle 8"/>
          <p:cNvSpPr/>
          <p:nvPr/>
        </p:nvSpPr>
        <p:spPr>
          <a:xfrm>
            <a:off x="530352" y="2103120"/>
            <a:ext cx="2057400" cy="96012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76656" y="2258568"/>
            <a:ext cx="1764792" cy="649224"/>
          </a:xfrm>
          <a:prstGeom prst="rect">
            <a:avLst/>
          </a:prstGeom>
          <a:noFill/>
        </p:spPr>
        <p:txBody>
          <a:bodyPr wrap="square" lIns="18288" tIns="0" rIns="18288" bIns="0" anchor="t">
            <a:spAutoFit/>
          </a:bodyPr>
          <a:lstStyle/>
          <a:p>
            <a:pPr algn="ctr">
              <a:spcAft>
                <a:spcPts val="200"/>
              </a:spcAft>
              <a:buNone/>
            </a:pPr>
            <a:r>
              <a:rPr sz="3200" b="1" i="0">
                <a:solidFill>
                  <a:srgbClr val="0070C0"/>
                </a:solidFill>
                <a:latin typeface="Calibri"/>
              </a:rPr>
              <a:t>7</a:t>
            </a:r>
          </a:p>
          <a:p>
            <a:pPr algn="ctr">
              <a:spcAft>
                <a:spcPts val="0"/>
              </a:spcAft>
              <a:buNone/>
            </a:pPr>
            <a:r>
              <a:rPr sz="1300" b="0" i="0">
                <a:solidFill>
                  <a:srgbClr val="5A6673"/>
                </a:solidFill>
                <a:latin typeface="Calibri"/>
              </a:rPr>
              <a:t>benches</a:t>
            </a:r>
          </a:p>
        </p:txBody>
      </p:sp>
      <p:sp>
        <p:nvSpPr>
          <p:cNvPr id="11" name="Rounded Rectangle 10"/>
          <p:cNvSpPr/>
          <p:nvPr/>
        </p:nvSpPr>
        <p:spPr>
          <a:xfrm>
            <a:off x="2770632" y="2103120"/>
            <a:ext cx="2057400" cy="96012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916936" y="2258568"/>
            <a:ext cx="1764792" cy="649224"/>
          </a:xfrm>
          <a:prstGeom prst="rect">
            <a:avLst/>
          </a:prstGeom>
          <a:noFill/>
        </p:spPr>
        <p:txBody>
          <a:bodyPr wrap="square" lIns="18288" tIns="0" rIns="18288" bIns="0" anchor="t">
            <a:spAutoFit/>
          </a:bodyPr>
          <a:lstStyle/>
          <a:p>
            <a:pPr algn="ctr">
              <a:spcAft>
                <a:spcPts val="200"/>
              </a:spcAft>
              <a:buNone/>
            </a:pPr>
            <a:r>
              <a:rPr sz="3200" b="1" i="0">
                <a:solidFill>
                  <a:srgbClr val="0070C0"/>
                </a:solidFill>
                <a:latin typeface="Calibri"/>
              </a:rPr>
              <a:t>20.0</a:t>
            </a:r>
            <a:r>
              <a:rPr sz="1600" b="0" i="0">
                <a:solidFill>
                  <a:srgbClr val="5A6673"/>
                </a:solidFill>
                <a:latin typeface="Calibri"/>
              </a:rPr>
              <a:t> m</a:t>
            </a:r>
          </a:p>
          <a:p>
            <a:pPr algn="ctr">
              <a:spcAft>
                <a:spcPts val="0"/>
              </a:spcAft>
              <a:buNone/>
            </a:pPr>
            <a:r>
              <a:rPr sz="1300" b="0" i="0">
                <a:solidFill>
                  <a:srgbClr val="5A6673"/>
                </a:solidFill>
                <a:latin typeface="Calibri"/>
              </a:rPr>
              <a:t>bench height</a:t>
            </a:r>
          </a:p>
        </p:txBody>
      </p:sp>
      <p:sp>
        <p:nvSpPr>
          <p:cNvPr id="13" name="Rounded Rectangle 12"/>
          <p:cNvSpPr/>
          <p:nvPr/>
        </p:nvSpPr>
        <p:spPr>
          <a:xfrm>
            <a:off x="5010912" y="2103120"/>
            <a:ext cx="2057400" cy="96012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157216" y="2258568"/>
            <a:ext cx="1764792" cy="649224"/>
          </a:xfrm>
          <a:prstGeom prst="rect">
            <a:avLst/>
          </a:prstGeom>
          <a:noFill/>
        </p:spPr>
        <p:txBody>
          <a:bodyPr wrap="square" lIns="18288" tIns="0" rIns="18288" bIns="0" anchor="t">
            <a:spAutoFit/>
          </a:bodyPr>
          <a:lstStyle/>
          <a:p>
            <a:pPr algn="ctr">
              <a:spcAft>
                <a:spcPts val="200"/>
              </a:spcAft>
              <a:buNone/>
            </a:pPr>
            <a:r>
              <a:rPr sz="3200" b="1" i="0">
                <a:solidFill>
                  <a:srgbClr val="0070C0"/>
                </a:solidFill>
                <a:latin typeface="Calibri"/>
              </a:rPr>
              <a:t>140</a:t>
            </a:r>
            <a:r>
              <a:rPr sz="1600" b="0" i="0">
                <a:solidFill>
                  <a:srgbClr val="5A6673"/>
                </a:solidFill>
                <a:latin typeface="Calibri"/>
              </a:rPr>
              <a:t> m</a:t>
            </a:r>
          </a:p>
          <a:p>
            <a:pPr algn="ctr">
              <a:spcAft>
                <a:spcPts val="0"/>
              </a:spcAft>
              <a:buNone/>
            </a:pPr>
            <a:r>
              <a:rPr sz="1300" b="0" i="0">
                <a:solidFill>
                  <a:srgbClr val="5A6673"/>
                </a:solidFill>
                <a:latin typeface="Calibri"/>
              </a:rPr>
              <a:t>pit depth</a:t>
            </a:r>
          </a:p>
        </p:txBody>
      </p:sp>
      <p:sp>
        <p:nvSpPr>
          <p:cNvPr id="15" name="Rounded Rectangle 14"/>
          <p:cNvSpPr/>
          <p:nvPr/>
        </p:nvSpPr>
        <p:spPr>
          <a:xfrm>
            <a:off x="7251192" y="2103120"/>
            <a:ext cx="2057400" cy="96012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397496" y="2258568"/>
            <a:ext cx="1764792" cy="649224"/>
          </a:xfrm>
          <a:prstGeom prst="rect">
            <a:avLst/>
          </a:prstGeom>
          <a:noFill/>
        </p:spPr>
        <p:txBody>
          <a:bodyPr wrap="square" lIns="18288" tIns="0" rIns="18288" bIns="0" anchor="t">
            <a:spAutoFit/>
          </a:bodyPr>
          <a:lstStyle/>
          <a:p>
            <a:pPr algn="ctr">
              <a:spcAft>
                <a:spcPts val="200"/>
              </a:spcAft>
              <a:buNone/>
            </a:pPr>
            <a:r>
              <a:rPr sz="3200" b="1" i="0">
                <a:solidFill>
                  <a:srgbClr val="0070C0"/>
                </a:solidFill>
                <a:latin typeface="Calibri"/>
              </a:rPr>
              <a:t>1,257</a:t>
            </a:r>
            <a:r>
              <a:rPr sz="1600" b="0" i="0">
                <a:solidFill>
                  <a:srgbClr val="5A6673"/>
                </a:solidFill>
                <a:latin typeface="Calibri"/>
              </a:rPr>
              <a:t> m</a:t>
            </a:r>
          </a:p>
          <a:p>
            <a:pPr algn="ctr">
              <a:spcAft>
                <a:spcPts val="0"/>
              </a:spcAft>
              <a:buNone/>
            </a:pPr>
            <a:r>
              <a:rPr sz="1300" b="0" i="0">
                <a:solidFill>
                  <a:srgbClr val="5A6673"/>
                </a:solidFill>
                <a:latin typeface="Calibri"/>
              </a:rPr>
              <a:t>crest RL</a:t>
            </a:r>
          </a:p>
        </p:txBody>
      </p:sp>
      <p:sp>
        <p:nvSpPr>
          <p:cNvPr id="17" name="Rounded Rectangle 16"/>
          <p:cNvSpPr/>
          <p:nvPr/>
        </p:nvSpPr>
        <p:spPr>
          <a:xfrm>
            <a:off x="9491472" y="2103120"/>
            <a:ext cx="2057400" cy="96012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637776" y="2258568"/>
            <a:ext cx="1764792" cy="649224"/>
          </a:xfrm>
          <a:prstGeom prst="rect">
            <a:avLst/>
          </a:prstGeom>
          <a:noFill/>
        </p:spPr>
        <p:txBody>
          <a:bodyPr wrap="square" lIns="18288" tIns="0" rIns="18288" bIns="0" anchor="t">
            <a:spAutoFit/>
          </a:bodyPr>
          <a:lstStyle/>
          <a:p>
            <a:pPr algn="ctr">
              <a:spcAft>
                <a:spcPts val="200"/>
              </a:spcAft>
              <a:buNone/>
            </a:pPr>
            <a:r>
              <a:rPr sz="3200" b="1" i="0">
                <a:solidFill>
                  <a:srgbClr val="0070C0"/>
                </a:solidFill>
                <a:latin typeface="Calibri"/>
              </a:rPr>
              <a:t>1,117</a:t>
            </a:r>
            <a:r>
              <a:rPr sz="1600" b="0" i="0">
                <a:solidFill>
                  <a:srgbClr val="5A6673"/>
                </a:solidFill>
                <a:latin typeface="Calibri"/>
              </a:rPr>
              <a:t> m</a:t>
            </a:r>
          </a:p>
          <a:p>
            <a:pPr algn="ctr">
              <a:spcAft>
                <a:spcPts val="0"/>
              </a:spcAft>
              <a:buNone/>
            </a:pPr>
            <a:r>
              <a:rPr sz="1300" b="0" i="0">
                <a:solidFill>
                  <a:srgbClr val="5A6673"/>
                </a:solidFill>
                <a:latin typeface="Calibri"/>
              </a:rPr>
              <a:t>floor RL</a:t>
            </a:r>
          </a:p>
        </p:txBody>
      </p:sp>
      <p:sp>
        <p:nvSpPr>
          <p:cNvPr id="19" name="TextBox 18"/>
          <p:cNvSpPr txBox="1"/>
          <p:nvPr/>
        </p:nvSpPr>
        <p:spPr>
          <a:xfrm>
            <a:off x="530352" y="3310128"/>
            <a:ext cx="6492240" cy="1810512"/>
          </a:xfrm>
          <a:prstGeom prst="rect">
            <a:avLst/>
          </a:prstGeom>
          <a:noFill/>
        </p:spPr>
        <p:txBody>
          <a:bodyPr wrap="square" lIns="18288" tIns="0" rIns="18288" bIns="0" anchor="t">
            <a:spAutoFit/>
          </a:bodyPr>
          <a:lstStyle/>
          <a:p>
            <a:pPr marL="201168" indent="-164592" algn="l">
              <a:lnSpc>
                <a:spcPct val="97000"/>
              </a:lnSpc>
              <a:spcAft>
                <a:spcPts val="1000"/>
              </a:spcAft>
              <a:buFont typeface="Arial"/>
              <a:buChar char="•"/>
            </a:pPr>
            <a:r>
              <a:rPr sz="1550" b="0" i="0">
                <a:solidFill>
                  <a:srgbClr val="1A1F26"/>
                </a:solidFill>
                <a:latin typeface="Calibri"/>
              </a:rPr>
              <a:t>Every number traces back to the block model exactly — footprint areas are exact cell counts, not a smoothed contour estimate</a:t>
            </a:r>
          </a:p>
          <a:p>
            <a:pPr marL="201168" indent="-164592" algn="l">
              <a:lnSpc>
                <a:spcPct val="97000"/>
              </a:lnSpc>
              <a:spcAft>
                <a:spcPts val="1000"/>
              </a:spcAft>
              <a:buFont typeface="Arial"/>
              <a:buChar char="•"/>
            </a:pPr>
            <a:r>
              <a:rPr sz="1550" b="0" i="0">
                <a:solidFill>
                  <a:srgbClr val="1A1F26"/>
                </a:solidFill>
                <a:latin typeface="Calibri"/>
              </a:rPr>
              <a:t>Total volume matches the optimizer's own result for real rock to machine precision, verified by a regression test</a:t>
            </a:r>
          </a:p>
          <a:p>
            <a:pPr marL="201168" indent="-164592" algn="l">
              <a:lnSpc>
                <a:spcPct val="97000"/>
              </a:lnSpc>
              <a:spcAft>
                <a:spcPts val="1000"/>
              </a:spcAft>
              <a:buFont typeface="Arial"/>
              <a:buChar char="•"/>
            </a:pPr>
            <a:r>
              <a:rPr sz="1550" b="0" i="0">
                <a:solidFill>
                  <a:srgbClr val="1A1F26"/>
                </a:solidFill>
                <a:latin typeface="Calibri"/>
              </a:rPr>
              <a:t>Minimum footprint half-width is reported around eight compass sectors — what a batter and berm design is really constrained by</a:t>
            </a:r>
          </a:p>
        </p:txBody>
      </p:sp>
      <p:sp>
        <p:nvSpPr>
          <p:cNvPr id="20" name="Rounded Rectangle 19"/>
          <p:cNvSpPr/>
          <p:nvPr/>
        </p:nvSpPr>
        <p:spPr>
          <a:xfrm>
            <a:off x="7269480" y="3310128"/>
            <a:ext cx="4352544" cy="1810512"/>
          </a:xfrm>
          <a:prstGeom prst="roundRect">
            <a:avLst>
              <a:gd name="adj" fmla="val 6000"/>
            </a:avLst>
          </a:prstGeom>
          <a:solidFill>
            <a:srgbClr val="FDF3E3"/>
          </a:solidFill>
          <a:ln w="12700">
            <a:solidFill>
              <a:srgbClr val="D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470648" y="3456432"/>
            <a:ext cx="3950208" cy="1554480"/>
          </a:xfrm>
          <a:prstGeom prst="rect">
            <a:avLst/>
          </a:prstGeom>
          <a:noFill/>
        </p:spPr>
        <p:txBody>
          <a:bodyPr wrap="square" lIns="18288" tIns="0" rIns="18288" bIns="0" anchor="t">
            <a:spAutoFit/>
          </a:bodyPr>
          <a:lstStyle/>
          <a:p>
            <a:pPr algn="l">
              <a:spcAft>
                <a:spcPts val="500"/>
              </a:spcAft>
              <a:buNone/>
            </a:pPr>
            <a:r>
              <a:rPr sz="1600" b="1" i="0">
                <a:solidFill>
                  <a:srgbClr val="9A5B00"/>
                </a:solidFill>
                <a:latin typeface="Calibri"/>
              </a:rPr>
              <a:t>What it deliberately does not claim</a:t>
            </a:r>
          </a:p>
          <a:p>
            <a:pPr algn="l">
              <a:lnSpc>
                <a:spcPct val="97000"/>
              </a:lnSpc>
              <a:spcAft>
                <a:spcPts val="0"/>
              </a:spcAft>
              <a:buNone/>
            </a:pPr>
            <a:r>
              <a:rPr sz="1300" b="0" i="0">
                <a:solidFill>
                  <a:srgbClr val="1A1F26"/>
                </a:solidFill>
                <a:latin typeface="Calibri"/>
              </a:rPr>
              <a:t>No batter angle, berm width or Factor of Safety is stated. Those are geotechnical outputs needing rock mass rating, discontinuity orientations, shear strength and groundwater data this pipeline was never given.</a:t>
            </a:r>
          </a:p>
        </p:txBody>
      </p:sp>
      <p:sp>
        <p:nvSpPr>
          <p:cNvPr id="22" name="Rounded Rectangle 21"/>
          <p:cNvSpPr/>
          <p:nvPr/>
        </p:nvSpPr>
        <p:spPr>
          <a:xfrm>
            <a:off x="530352" y="5266944"/>
            <a:ext cx="11091672" cy="132588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49808" y="5413248"/>
            <a:ext cx="10652760" cy="1097280"/>
          </a:xfrm>
          <a:prstGeom prst="rect">
            <a:avLst/>
          </a:prstGeom>
          <a:noFill/>
        </p:spPr>
        <p:txBody>
          <a:bodyPr wrap="square" lIns="18288" tIns="0" rIns="18288" bIns="0" anchor="t">
            <a:spAutoFit/>
          </a:bodyPr>
          <a:lstStyle/>
          <a:p>
            <a:pPr algn="l">
              <a:spcAft>
                <a:spcPts val="400"/>
              </a:spcAft>
              <a:buNone/>
            </a:pPr>
            <a:r>
              <a:rPr sz="1600" b="1" i="0">
                <a:solidFill>
                  <a:srgbClr val="0070C0"/>
                </a:solidFill>
                <a:latin typeface="Calibri"/>
              </a:rPr>
              <a:t>A real bug this caught, and why it matters</a:t>
            </a:r>
          </a:p>
          <a:p>
            <a:pPr algn="l">
              <a:lnSpc>
                <a:spcPct val="98000"/>
              </a:lnSpc>
              <a:spcAft>
                <a:spcPts val="0"/>
              </a:spcAft>
              <a:buNone/>
            </a:pPr>
            <a:r>
              <a:rPr sz="1400" b="0" i="0">
                <a:solidFill>
                  <a:srgbClr val="1A1F26"/>
                </a:solidFill>
                <a:latin typeface="Calibri"/>
              </a:rPr>
              <a:t>Precedence pulls “air” blocks above ground into the pit because they cost nothing to include. An early version counted that overhead air as rock to excavate — a 37% tonnage overstatement, with no error raised, only a wrong number. The schedule now tracks each column's floor and its real-rock crest separately, and a regression test holds it there.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mine_logo.jpg"/>
          <p:cNvPicPr>
            <a:picLocks noChangeAspect="1"/>
          </p:cNvPicPr>
          <p:nvPr/>
        </p:nvPicPr>
        <p:blipFill>
          <a:blip r:embed="rId4"/>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tIns="0" rIns="18288" bIns="0" anchor="t">
            <a:spAutoFit/>
          </a:bodyPr>
          <a:lstStyle/>
          <a:p>
            <a:pPr algn="l">
              <a:spcAft>
                <a:spcPts val="0"/>
              </a:spcAft>
              <a:buNone/>
            </a:pPr>
            <a:r>
              <a:rPr sz="3600" b="1" i="0">
                <a:solidFill>
                  <a:srgbClr val="00B050"/>
                </a:solidFill>
                <a:latin typeface="Calibri"/>
              </a:rPr>
              <a:t>Two Independent Orebody Models</a:t>
            </a:r>
          </a:p>
        </p:txBody>
      </p:sp>
      <p:sp>
        <p:nvSpPr>
          <p:cNvPr id="8" name="TextBox 7"/>
          <p:cNvSpPr txBox="1"/>
          <p:nvPr/>
        </p:nvSpPr>
        <p:spPr>
          <a:xfrm>
            <a:off x="384048" y="987552"/>
            <a:ext cx="9601200" cy="457200"/>
          </a:xfrm>
          <a:prstGeom prst="rect">
            <a:avLst/>
          </a:prstGeom>
          <a:noFill/>
        </p:spPr>
        <p:txBody>
          <a:bodyPr wrap="square" lIns="18288" tIns="0" rIns="18288" bIns="0" anchor="t">
            <a:spAutoFit/>
          </a:bodyPr>
          <a:lstStyle/>
          <a:p>
            <a:pPr algn="l">
              <a:spcAft>
                <a:spcPts val="0"/>
              </a:spcAft>
              <a:buNone/>
            </a:pPr>
            <a:r>
              <a:rPr sz="2400" b="1" i="0">
                <a:solidFill>
                  <a:srgbClr val="0070C0"/>
                </a:solidFill>
                <a:latin typeface="Calibri"/>
              </a:rPr>
              <a:t>Same drilling, two methods, no shared code or assumptions</a:t>
            </a:r>
          </a:p>
        </p:txBody>
      </p:sp>
      <p:pic>
        <p:nvPicPr>
          <p:cNvPr id="9" name="gempy_turntable.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30352" y="1627632"/>
            <a:ext cx="5212080" cy="3273552"/>
          </a:xfrm>
          <a:prstGeom prst="rect">
            <a:avLst/>
          </a:prstGeom>
        </p:spPr>
      </p:pic>
      <p:sp>
        <p:nvSpPr>
          <p:cNvPr id="10" name="TextBox 9"/>
          <p:cNvSpPr txBox="1"/>
          <p:nvPr/>
        </p:nvSpPr>
        <p:spPr>
          <a:xfrm>
            <a:off x="530352" y="4992624"/>
            <a:ext cx="5212080" cy="365760"/>
          </a:xfrm>
          <a:prstGeom prst="rect">
            <a:avLst/>
          </a:prstGeom>
          <a:noFill/>
        </p:spPr>
        <p:txBody>
          <a:bodyPr wrap="square" lIns="18288" tIns="0" rIns="18288" bIns="0" anchor="t">
            <a:spAutoFit/>
          </a:bodyPr>
          <a:lstStyle/>
          <a:p>
            <a:pPr algn="ctr">
              <a:spcAft>
                <a:spcPts val="0"/>
              </a:spcAft>
              <a:buNone/>
            </a:pPr>
            <a:r>
              <a:rPr sz="1100" b="0" i="1">
                <a:solidFill>
                  <a:srgbClr val="5A6673"/>
                </a:solidFill>
                <a:latin typeface="Calibri"/>
              </a:rPr>
              <a:t>Pink: the explicit section wireframe.   Teal: the GemPy implicit surface, interpolated through the ore contacts. Turning makes the overlap readable.</a:t>
            </a:r>
          </a:p>
        </p:txBody>
      </p:sp>
      <p:sp>
        <p:nvSpPr>
          <p:cNvPr id="11" name="TextBox 10"/>
          <p:cNvSpPr txBox="1"/>
          <p:nvPr/>
        </p:nvSpPr>
        <p:spPr>
          <a:xfrm>
            <a:off x="530352" y="5486400"/>
            <a:ext cx="5212080" cy="365760"/>
          </a:xfrm>
          <a:prstGeom prst="rect">
            <a:avLst/>
          </a:prstGeom>
          <a:noFill/>
        </p:spPr>
        <p:txBody>
          <a:bodyPr wrap="square" lIns="18288" tIns="0" rIns="18288" bIns="0" anchor="t">
            <a:spAutoFit/>
          </a:bodyPr>
          <a:lstStyle/>
          <a:p>
            <a:pPr algn="ctr">
              <a:spcAft>
                <a:spcPts val="0"/>
              </a:spcAft>
              <a:buNone/>
            </a:pPr>
            <a:r>
              <a:rPr sz="1100" b="0" i="1">
                <a:solidFill>
                  <a:srgbClr val="5A6673"/>
                </a:solidFill>
                <a:latin typeface="Calibri"/>
              </a:rPr>
              <a:t>The same live model is one click away from slide 7.</a:t>
            </a:r>
          </a:p>
        </p:txBody>
      </p:sp>
      <p:graphicFrame>
        <p:nvGraphicFramePr>
          <p:cNvPr id="12" name="Table 11"/>
          <p:cNvGraphicFramePr>
            <a:graphicFrameLocks noGrp="1"/>
          </p:cNvGraphicFramePr>
          <p:nvPr/>
        </p:nvGraphicFramePr>
        <p:xfrm>
          <a:off x="6053328" y="2103120"/>
          <a:ext cx="5568696" cy="1645920"/>
        </p:xfrm>
        <a:graphic>
          <a:graphicData uri="http://schemas.openxmlformats.org/drawingml/2006/table">
            <a:tbl>
              <a:tblPr firstRow="1">
                <a:tableStyleId>{5C22544A-7EE6-4342-B048-85BDC9FD1C3A}</a:tableStyleId>
              </a:tblPr>
              <a:tblGrid>
                <a:gridCol w="1572768">
                  <a:extLst>
                    <a:ext uri="{9D8B030D-6E8A-4147-A177-3AD203B41FA5}">
                      <a16:colId xmlns:a16="http://schemas.microsoft.com/office/drawing/2014/main" val="20000"/>
                    </a:ext>
                  </a:extLst>
                </a:gridCol>
                <a:gridCol w="1938528">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329184">
                <a:tc>
                  <a:txBody>
                    <a:bodyPr/>
                    <a:lstStyle/>
                    <a:p>
                      <a:pPr algn="l">
                        <a:spcAft>
                          <a:spcPts val="0"/>
                        </a:spcAft>
                        <a:buNone/>
                      </a:pPr>
                      <a:endParaRPr/>
                    </a:p>
                  </a:txBody>
                  <a:tcPr marL="73152" marR="54864" marT="18288" marB="18288" anchor="ctr">
                    <a:solidFill>
                      <a:srgbClr val="0070C0"/>
                    </a:solidFill>
                  </a:tcPr>
                </a:tc>
                <a:tc>
                  <a:txBody>
                    <a:bodyPr/>
                    <a:lstStyle/>
                    <a:p>
                      <a:pPr algn="l">
                        <a:spcAft>
                          <a:spcPts val="0"/>
                        </a:spcAft>
                        <a:buNone/>
                      </a:pPr>
                      <a:r>
                        <a:rPr sz="1250" b="1" i="0">
                          <a:solidFill>
                            <a:srgbClr val="FFFFFF"/>
                          </a:solidFill>
                          <a:latin typeface="Calibri"/>
                        </a:rPr>
                        <a:t>Section wireframe</a:t>
                      </a:r>
                    </a:p>
                  </a:txBody>
                  <a:tcPr marL="73152" marR="54864" marT="18288" marB="18288" anchor="ctr">
                    <a:solidFill>
                      <a:srgbClr val="0070C0"/>
                    </a:solidFill>
                  </a:tcPr>
                </a:tc>
                <a:tc>
                  <a:txBody>
                    <a:bodyPr/>
                    <a:lstStyle/>
                    <a:p>
                      <a:pPr algn="l">
                        <a:spcAft>
                          <a:spcPts val="0"/>
                        </a:spcAft>
                        <a:buNone/>
                      </a:pPr>
                      <a:r>
                        <a:rPr sz="1250" b="1" i="0">
                          <a:solidFill>
                            <a:srgbClr val="FFFFFF"/>
                          </a:solidFill>
                          <a:latin typeface="Calibri"/>
                        </a:rPr>
                        <a:t>GemPy implicit</a:t>
                      </a:r>
                    </a:p>
                  </a:txBody>
                  <a:tcPr marL="73152" marR="54864" marT="18288" marB="18288" anchor="ctr">
                    <a:solidFill>
                      <a:srgbClr val="0070C0"/>
                    </a:solidFill>
                  </a:tcPr>
                </a:tc>
                <a:extLst>
                  <a:ext uri="{0D108BD9-81ED-4DB2-BD59-A6C34878D82A}">
                    <a16:rowId xmlns:a16="http://schemas.microsoft.com/office/drawing/2014/main" val="10000"/>
                  </a:ext>
                </a:extLst>
              </a:tr>
              <a:tr h="329184">
                <a:tc>
                  <a:txBody>
                    <a:bodyPr/>
                    <a:lstStyle/>
                    <a:p>
                      <a:pPr algn="l">
                        <a:spcAft>
                          <a:spcPts val="0"/>
                        </a:spcAft>
                        <a:buNone/>
                      </a:pPr>
                      <a:r>
                        <a:rPr sz="1250" b="0" i="0">
                          <a:solidFill>
                            <a:srgbClr val="1A1F26"/>
                          </a:solidFill>
                          <a:latin typeface="Calibri"/>
                        </a:rPr>
                        <a:t>Kind</a:t>
                      </a:r>
                    </a:p>
                  </a:txBody>
                  <a:tcPr marL="73152" marR="54864" marT="18288" marB="18288" anchor="ctr">
                    <a:solidFill>
                      <a:srgbClr val="FFFFFF"/>
                    </a:solidFill>
                  </a:tcPr>
                </a:tc>
                <a:tc>
                  <a:txBody>
                    <a:bodyPr/>
                    <a:lstStyle/>
                    <a:p>
                      <a:pPr algn="l">
                        <a:spcAft>
                          <a:spcPts val="0"/>
                        </a:spcAft>
                        <a:buNone/>
                      </a:pPr>
                      <a:r>
                        <a:rPr sz="1250" b="0" i="0">
                          <a:solidFill>
                            <a:srgbClr val="1A1F26"/>
                          </a:solidFill>
                          <a:latin typeface="Calibri"/>
                        </a:rPr>
                        <a:t>explicit</a:t>
                      </a:r>
                    </a:p>
                  </a:txBody>
                  <a:tcPr marL="73152" marR="54864" marT="18288" marB="18288" anchor="ctr">
                    <a:solidFill>
                      <a:srgbClr val="FFFFFF"/>
                    </a:solidFill>
                  </a:tcPr>
                </a:tc>
                <a:tc>
                  <a:txBody>
                    <a:bodyPr/>
                    <a:lstStyle/>
                    <a:p>
                      <a:pPr algn="l">
                        <a:spcAft>
                          <a:spcPts val="0"/>
                        </a:spcAft>
                        <a:buNone/>
                      </a:pPr>
                      <a:r>
                        <a:rPr sz="1250" b="0" i="0">
                          <a:solidFill>
                            <a:srgbClr val="1A1F26"/>
                          </a:solidFill>
                          <a:latin typeface="Calibri"/>
                        </a:rPr>
                        <a:t>implicit</a:t>
                      </a:r>
                    </a:p>
                  </a:txBody>
                  <a:tcPr marL="73152"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l">
                        <a:spcAft>
                          <a:spcPts val="0"/>
                        </a:spcAft>
                        <a:buNone/>
                      </a:pPr>
                      <a:r>
                        <a:rPr sz="1250" b="0" i="0">
                          <a:solidFill>
                            <a:srgbClr val="1A1F26"/>
                          </a:solidFill>
                          <a:latin typeface="Calibri"/>
                        </a:rPr>
                        <a:t>Shape comes from</a:t>
                      </a:r>
                    </a:p>
                  </a:txBody>
                  <a:tcPr marL="73152" marR="54864" marT="18288" marB="18288" anchor="ctr">
                    <a:solidFill>
                      <a:srgbClr val="F2F5F8"/>
                    </a:solidFill>
                  </a:tcPr>
                </a:tc>
                <a:tc>
                  <a:txBody>
                    <a:bodyPr/>
                    <a:lstStyle/>
                    <a:p>
                      <a:pPr algn="l">
                        <a:spcAft>
                          <a:spcPts val="0"/>
                        </a:spcAft>
                        <a:buNone/>
                      </a:pPr>
                      <a:r>
                        <a:rPr sz="1250" b="0" i="0">
                          <a:solidFill>
                            <a:srgbClr val="1A1F26"/>
                          </a:solidFill>
                          <a:latin typeface="Calibri"/>
                        </a:rPr>
                        <a:t>the digitised outlines</a:t>
                      </a:r>
                    </a:p>
                  </a:txBody>
                  <a:tcPr marL="73152" marR="54864" marT="18288" marB="18288" anchor="ctr">
                    <a:solidFill>
                      <a:srgbClr val="F2F5F8"/>
                    </a:solidFill>
                  </a:tcPr>
                </a:tc>
                <a:tc>
                  <a:txBody>
                    <a:bodyPr/>
                    <a:lstStyle/>
                    <a:p>
                      <a:pPr algn="l">
                        <a:spcAft>
                          <a:spcPts val="0"/>
                        </a:spcAft>
                        <a:buNone/>
                      </a:pPr>
                      <a:r>
                        <a:rPr sz="1250" b="0" i="0">
                          <a:solidFill>
                            <a:srgbClr val="1A1F26"/>
                          </a:solidFill>
                          <a:latin typeface="Calibri"/>
                        </a:rPr>
                        <a:t>the data and the interpolation</a:t>
                      </a:r>
                    </a:p>
                  </a:txBody>
                  <a:tcPr marL="73152" marR="54864" marT="18288" marB="18288" anchor="ctr">
                    <a:solidFill>
                      <a:srgbClr val="F2F5F8"/>
                    </a:solidFill>
                  </a:tcPr>
                </a:tc>
                <a:extLst>
                  <a:ext uri="{0D108BD9-81ED-4DB2-BD59-A6C34878D82A}">
                    <a16:rowId xmlns:a16="http://schemas.microsoft.com/office/drawing/2014/main" val="10002"/>
                  </a:ext>
                </a:extLst>
              </a:tr>
              <a:tr h="329184">
                <a:tc>
                  <a:txBody>
                    <a:bodyPr/>
                    <a:lstStyle/>
                    <a:p>
                      <a:pPr algn="l">
                        <a:spcAft>
                          <a:spcPts val="0"/>
                        </a:spcAft>
                        <a:buNone/>
                      </a:pPr>
                      <a:r>
                        <a:rPr sz="1250" b="0" i="0">
                          <a:solidFill>
                            <a:srgbClr val="1A1F26"/>
                          </a:solidFill>
                          <a:latin typeface="Calibri"/>
                        </a:rPr>
                        <a:t>AI involved</a:t>
                      </a:r>
                    </a:p>
                  </a:txBody>
                  <a:tcPr marL="73152" marR="54864" marT="18288" marB="18288" anchor="ctr">
                    <a:solidFill>
                      <a:srgbClr val="FFFFFF"/>
                    </a:solidFill>
                  </a:tcPr>
                </a:tc>
                <a:tc>
                  <a:txBody>
                    <a:bodyPr/>
                    <a:lstStyle/>
                    <a:p>
                      <a:pPr algn="l">
                        <a:spcAft>
                          <a:spcPts val="0"/>
                        </a:spcAft>
                        <a:buNone/>
                      </a:pPr>
                      <a:r>
                        <a:rPr sz="1250" b="1" i="0">
                          <a:solidFill>
                            <a:srgbClr val="9A5B00"/>
                          </a:solidFill>
                          <a:latin typeface="Calibri"/>
                        </a:rPr>
                        <a:t>yes — Call 1</a:t>
                      </a:r>
                    </a:p>
                  </a:txBody>
                  <a:tcPr marL="73152" marR="54864" marT="18288" marB="18288" anchor="ctr">
                    <a:solidFill>
                      <a:srgbClr val="FFFFFF"/>
                    </a:solidFill>
                  </a:tcPr>
                </a:tc>
                <a:tc>
                  <a:txBody>
                    <a:bodyPr/>
                    <a:lstStyle/>
                    <a:p>
                      <a:pPr algn="l">
                        <a:spcAft>
                          <a:spcPts val="0"/>
                        </a:spcAft>
                        <a:buNone/>
                      </a:pPr>
                      <a:r>
                        <a:rPr sz="1250" b="1" i="0">
                          <a:solidFill>
                            <a:srgbClr val="176B3A"/>
                          </a:solidFill>
                          <a:latin typeface="Calibri"/>
                        </a:rPr>
                        <a:t>no, none at any point</a:t>
                      </a:r>
                    </a:p>
                  </a:txBody>
                  <a:tcPr marL="73152" marR="54864" marT="18288" marB="18288" anchor="ctr">
                    <a:solidFill>
                      <a:srgbClr val="FFFFFF"/>
                    </a:solidFill>
                  </a:tcPr>
                </a:tc>
                <a:extLst>
                  <a:ext uri="{0D108BD9-81ED-4DB2-BD59-A6C34878D82A}">
                    <a16:rowId xmlns:a16="http://schemas.microsoft.com/office/drawing/2014/main" val="10003"/>
                  </a:ext>
                </a:extLst>
              </a:tr>
              <a:tr h="329184">
                <a:tc>
                  <a:txBody>
                    <a:bodyPr/>
                    <a:lstStyle/>
                    <a:p>
                      <a:pPr algn="l">
                        <a:spcAft>
                          <a:spcPts val="0"/>
                        </a:spcAft>
                        <a:buNone/>
                      </a:pPr>
                      <a:r>
                        <a:rPr sz="1250" b="0" i="0">
                          <a:solidFill>
                            <a:srgbClr val="1A1F26"/>
                          </a:solidFill>
                          <a:latin typeface="Calibri"/>
                        </a:rPr>
                        <a:t>Volume</a:t>
                      </a:r>
                    </a:p>
                  </a:txBody>
                  <a:tcPr marL="73152" marR="54864" marT="18288" marB="18288" anchor="ctr">
                    <a:solidFill>
                      <a:srgbClr val="F2F5F8"/>
                    </a:solidFill>
                  </a:tcPr>
                </a:tc>
                <a:tc>
                  <a:txBody>
                    <a:bodyPr/>
                    <a:lstStyle/>
                    <a:p>
                      <a:pPr algn="l">
                        <a:spcAft>
                          <a:spcPts val="0"/>
                        </a:spcAft>
                        <a:buNone/>
                      </a:pPr>
                      <a:r>
                        <a:rPr sz="1250" b="0" i="0">
                          <a:solidFill>
                            <a:srgbClr val="1A1F26"/>
                          </a:solidFill>
                          <a:latin typeface="Calibri"/>
                        </a:rPr>
                        <a:t>6,007,755 m³</a:t>
                      </a:r>
                    </a:p>
                  </a:txBody>
                  <a:tcPr marL="73152" marR="54864" marT="18288" marB="18288" anchor="ctr">
                    <a:solidFill>
                      <a:srgbClr val="F2F5F8"/>
                    </a:solidFill>
                  </a:tcPr>
                </a:tc>
                <a:tc>
                  <a:txBody>
                    <a:bodyPr/>
                    <a:lstStyle/>
                    <a:p>
                      <a:pPr algn="l">
                        <a:spcAft>
                          <a:spcPts val="0"/>
                        </a:spcAft>
                        <a:buNone/>
                      </a:pPr>
                      <a:r>
                        <a:rPr sz="1250" b="0" i="0">
                          <a:solidFill>
                            <a:srgbClr val="1A1F26"/>
                          </a:solidFill>
                          <a:latin typeface="Calibri"/>
                        </a:rPr>
                        <a:t>6,265,730 m³</a:t>
                      </a:r>
                    </a:p>
                  </a:txBody>
                  <a:tcPr marL="73152" marR="54864" marT="18288" marB="18288" anchor="ctr">
                    <a:solidFill>
                      <a:srgbClr val="F2F5F8"/>
                    </a:solidFill>
                  </a:tcPr>
                </a:tc>
                <a:extLst>
                  <a:ext uri="{0D108BD9-81ED-4DB2-BD59-A6C34878D82A}">
                    <a16:rowId xmlns:a16="http://schemas.microsoft.com/office/drawing/2014/main" val="10004"/>
                  </a:ext>
                </a:extLst>
              </a:tr>
            </a:tbl>
          </a:graphicData>
        </a:graphic>
      </p:graphicFrame>
      <p:sp>
        <p:nvSpPr>
          <p:cNvPr id="13" name="Rounded Rectangle 12"/>
          <p:cNvSpPr/>
          <p:nvPr/>
        </p:nvSpPr>
        <p:spPr>
          <a:xfrm>
            <a:off x="6053328" y="3895344"/>
            <a:ext cx="2670048" cy="1024128"/>
          </a:xfrm>
          <a:prstGeom prst="roundRect">
            <a:avLst>
              <a:gd name="adj" fmla="val 6000"/>
            </a:avLst>
          </a:prstGeom>
          <a:solidFill>
            <a:srgbClr val="E9F5EC"/>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199632" y="4050791"/>
            <a:ext cx="2377440" cy="713232"/>
          </a:xfrm>
          <a:prstGeom prst="rect">
            <a:avLst/>
          </a:prstGeom>
          <a:noFill/>
        </p:spPr>
        <p:txBody>
          <a:bodyPr wrap="square" lIns="18288" tIns="0" rIns="18288" bIns="0" anchor="t">
            <a:spAutoFit/>
          </a:bodyPr>
          <a:lstStyle/>
          <a:p>
            <a:pPr algn="ctr">
              <a:spcAft>
                <a:spcPts val="200"/>
              </a:spcAft>
              <a:buNone/>
            </a:pPr>
            <a:r>
              <a:rPr sz="3200" b="1" i="0">
                <a:solidFill>
                  <a:srgbClr val="176B3A"/>
                </a:solidFill>
                <a:latin typeface="Calibri"/>
              </a:rPr>
              <a:t>+4.3%</a:t>
            </a:r>
          </a:p>
          <a:p>
            <a:pPr algn="ctr">
              <a:spcAft>
                <a:spcPts val="0"/>
              </a:spcAft>
              <a:buNone/>
            </a:pPr>
            <a:r>
              <a:rPr sz="1300" b="0" i="0">
                <a:solidFill>
                  <a:srgbClr val="5A6673"/>
                </a:solidFill>
                <a:latin typeface="Calibri"/>
              </a:rPr>
              <a:t>volume difference between the two models</a:t>
            </a:r>
          </a:p>
        </p:txBody>
      </p:sp>
      <p:sp>
        <p:nvSpPr>
          <p:cNvPr id="15" name="Rounded Rectangle 14"/>
          <p:cNvSpPr/>
          <p:nvPr/>
        </p:nvSpPr>
        <p:spPr>
          <a:xfrm>
            <a:off x="8951976" y="3895344"/>
            <a:ext cx="2670048" cy="1024128"/>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098280" y="4050791"/>
            <a:ext cx="2377440" cy="713232"/>
          </a:xfrm>
          <a:prstGeom prst="rect">
            <a:avLst/>
          </a:prstGeom>
          <a:noFill/>
        </p:spPr>
        <p:txBody>
          <a:bodyPr wrap="square" lIns="18288" tIns="0" rIns="18288" bIns="0" anchor="t">
            <a:spAutoFit/>
          </a:bodyPr>
          <a:lstStyle/>
          <a:p>
            <a:pPr algn="ctr">
              <a:spcAft>
                <a:spcPts val="200"/>
              </a:spcAft>
              <a:buNone/>
            </a:pPr>
            <a:r>
              <a:rPr sz="3200" b="1" i="0">
                <a:solidFill>
                  <a:srgbClr val="0070C0"/>
                </a:solidFill>
                <a:latin typeface="Calibri"/>
              </a:rPr>
              <a:t>95.0%</a:t>
            </a:r>
          </a:p>
          <a:p>
            <a:pPr algn="ctr">
              <a:spcAft>
                <a:spcPts val="0"/>
              </a:spcAft>
              <a:buNone/>
            </a:pPr>
            <a:r>
              <a:rPr sz="1300" b="0" i="0">
                <a:solidFill>
                  <a:srgbClr val="5A6673"/>
                </a:solidFill>
                <a:latin typeface="Calibri"/>
              </a:rPr>
              <a:t>of logged ore intercepts fall inside the implicit solid</a:t>
            </a:r>
          </a:p>
        </p:txBody>
      </p:sp>
      <p:sp>
        <p:nvSpPr>
          <p:cNvPr id="17" name="Rounded Rectangle 16"/>
          <p:cNvSpPr/>
          <p:nvPr/>
        </p:nvSpPr>
        <p:spPr>
          <a:xfrm>
            <a:off x="6053328" y="5084064"/>
            <a:ext cx="5568696" cy="1463040"/>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254496" y="5230368"/>
            <a:ext cx="5166360" cy="1234440"/>
          </a:xfrm>
          <a:prstGeom prst="rect">
            <a:avLst/>
          </a:prstGeom>
          <a:noFill/>
        </p:spPr>
        <p:txBody>
          <a:bodyPr wrap="square" lIns="18288" tIns="0" rIns="18288" bIns="0" anchor="t">
            <a:spAutoFit/>
          </a:bodyPr>
          <a:lstStyle/>
          <a:p>
            <a:pPr algn="l">
              <a:spcAft>
                <a:spcPts val="500"/>
              </a:spcAft>
              <a:buNone/>
            </a:pPr>
            <a:r>
              <a:rPr sz="1600" b="1" i="0">
                <a:solidFill>
                  <a:srgbClr val="0070C0"/>
                </a:solidFill>
                <a:latin typeface="Calibri"/>
              </a:rPr>
              <a:t>Why build the same thing twice</a:t>
            </a:r>
          </a:p>
          <a:p>
            <a:pPr algn="l">
              <a:lnSpc>
                <a:spcPct val="97000"/>
              </a:lnSpc>
              <a:spcAft>
                <a:spcPts val="0"/>
              </a:spcAft>
              <a:buNone/>
            </a:pPr>
            <a:r>
              <a:rPr sz="1350" b="0" i="0">
                <a:solidFill>
                  <a:srgbClr val="1A1F26"/>
                </a:solidFill>
                <a:latin typeface="Calibri"/>
              </a:rPr>
              <a:t>Two methods this different agreeing is evidence; disagreeing is a question worth asking. Capture rate is the honest test — a potential field always produces a smooth, convincing surface, and that number says whether it actually contains the ore.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tIns="0" rIns="18288" bIns="0" anchor="t">
            <a:spAutoFit/>
          </a:bodyPr>
          <a:lstStyle/>
          <a:p>
            <a:pPr algn="l">
              <a:spcAft>
                <a:spcPts val="0"/>
              </a:spcAft>
              <a:buNone/>
            </a:pPr>
            <a:r>
              <a:rPr sz="3600" b="1" i="0">
                <a:solidFill>
                  <a:srgbClr val="00B050"/>
                </a:solidFill>
                <a:latin typeface="Calibri"/>
              </a:rPr>
              <a:t>Demonstration Run — Results</a:t>
            </a:r>
          </a:p>
        </p:txBody>
      </p:sp>
      <p:sp>
        <p:nvSpPr>
          <p:cNvPr id="8" name="TextBox 7"/>
          <p:cNvSpPr txBox="1"/>
          <p:nvPr/>
        </p:nvSpPr>
        <p:spPr>
          <a:xfrm>
            <a:off x="384048" y="987552"/>
            <a:ext cx="9601200" cy="457200"/>
          </a:xfrm>
          <a:prstGeom prst="rect">
            <a:avLst/>
          </a:prstGeom>
          <a:noFill/>
        </p:spPr>
        <p:txBody>
          <a:bodyPr wrap="square" lIns="18288" tIns="0" rIns="18288" bIns="0" anchor="t">
            <a:spAutoFit/>
          </a:bodyPr>
          <a:lstStyle/>
          <a:p>
            <a:pPr algn="l">
              <a:spcAft>
                <a:spcPts val="0"/>
              </a:spcAft>
              <a:buNone/>
            </a:pPr>
            <a:r>
              <a:rPr sz="2400" b="1" i="0">
                <a:solidFill>
                  <a:srgbClr val="0070C0"/>
                </a:solidFill>
                <a:latin typeface="Calibri"/>
              </a:rPr>
              <a:t>66-hole gold deposit, 16,506 assay intervals, start to finish in one command</a:t>
            </a:r>
          </a:p>
        </p:txBody>
      </p:sp>
      <p:sp>
        <p:nvSpPr>
          <p:cNvPr id="9" name="Rounded Rectangle 8"/>
          <p:cNvSpPr/>
          <p:nvPr/>
        </p:nvSpPr>
        <p:spPr>
          <a:xfrm>
            <a:off x="530352" y="2103120"/>
            <a:ext cx="2624328" cy="100584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76656" y="2258568"/>
            <a:ext cx="2331720" cy="694944"/>
          </a:xfrm>
          <a:prstGeom prst="rect">
            <a:avLst/>
          </a:prstGeom>
          <a:noFill/>
        </p:spPr>
        <p:txBody>
          <a:bodyPr wrap="square" lIns="18288" tIns="0" rIns="18288" bIns="0" anchor="t">
            <a:spAutoFit/>
          </a:bodyPr>
          <a:lstStyle/>
          <a:p>
            <a:pPr algn="ctr">
              <a:spcAft>
                <a:spcPts val="200"/>
              </a:spcAft>
              <a:buNone/>
            </a:pPr>
            <a:r>
              <a:rPr sz="3400" b="1" i="0">
                <a:solidFill>
                  <a:srgbClr val="0070C0"/>
                </a:solidFill>
                <a:latin typeface="Calibri"/>
              </a:rPr>
              <a:t>11.30</a:t>
            </a:r>
          </a:p>
          <a:p>
            <a:pPr algn="ctr">
              <a:spcAft>
                <a:spcPts val="0"/>
              </a:spcAft>
              <a:buNone/>
            </a:pPr>
            <a:r>
              <a:rPr sz="1300" b="0" i="0">
                <a:solidFill>
                  <a:srgbClr val="5A6673"/>
                </a:solidFill>
                <a:latin typeface="Calibri"/>
              </a:rPr>
              <a:t>Mt ore in pit</a:t>
            </a:r>
          </a:p>
        </p:txBody>
      </p:sp>
      <p:sp>
        <p:nvSpPr>
          <p:cNvPr id="11" name="Rounded Rectangle 10"/>
          <p:cNvSpPr/>
          <p:nvPr/>
        </p:nvSpPr>
        <p:spPr>
          <a:xfrm>
            <a:off x="3337560" y="2103120"/>
            <a:ext cx="2624328" cy="100584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483864" y="2258568"/>
            <a:ext cx="2331720" cy="694944"/>
          </a:xfrm>
          <a:prstGeom prst="rect">
            <a:avLst/>
          </a:prstGeom>
          <a:noFill/>
        </p:spPr>
        <p:txBody>
          <a:bodyPr wrap="square" lIns="18288" tIns="0" rIns="18288" bIns="0" anchor="t">
            <a:spAutoFit/>
          </a:bodyPr>
          <a:lstStyle/>
          <a:p>
            <a:pPr algn="ctr">
              <a:spcAft>
                <a:spcPts val="200"/>
              </a:spcAft>
              <a:buNone/>
            </a:pPr>
            <a:r>
              <a:rPr sz="3400" b="1" i="0">
                <a:solidFill>
                  <a:srgbClr val="0070C0"/>
                </a:solidFill>
                <a:latin typeface="Calibri"/>
              </a:rPr>
              <a:t>1.859</a:t>
            </a:r>
          </a:p>
          <a:p>
            <a:pPr algn="ctr">
              <a:spcAft>
                <a:spcPts val="0"/>
              </a:spcAft>
              <a:buNone/>
            </a:pPr>
            <a:r>
              <a:rPr sz="1300" b="0" i="0">
                <a:solidFill>
                  <a:srgbClr val="5A6673"/>
                </a:solidFill>
                <a:latin typeface="Calibri"/>
              </a:rPr>
              <a:t>g/t mean ore grade</a:t>
            </a:r>
          </a:p>
        </p:txBody>
      </p:sp>
      <p:sp>
        <p:nvSpPr>
          <p:cNvPr id="13" name="Rounded Rectangle 12"/>
          <p:cNvSpPr/>
          <p:nvPr/>
        </p:nvSpPr>
        <p:spPr>
          <a:xfrm>
            <a:off x="6144768" y="2103120"/>
            <a:ext cx="2624328" cy="1005840"/>
          </a:xfrm>
          <a:prstGeom prst="roundRect">
            <a:avLst>
              <a:gd name="adj" fmla="val 6000"/>
            </a:avLst>
          </a:prstGeom>
          <a:solidFill>
            <a:srgbClr val="E9F5EC"/>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291072" y="2258568"/>
            <a:ext cx="2331720" cy="694944"/>
          </a:xfrm>
          <a:prstGeom prst="rect">
            <a:avLst/>
          </a:prstGeom>
          <a:noFill/>
        </p:spPr>
        <p:txBody>
          <a:bodyPr wrap="square" lIns="18288" tIns="0" rIns="18288" bIns="0" anchor="t">
            <a:spAutoFit/>
          </a:bodyPr>
          <a:lstStyle/>
          <a:p>
            <a:pPr algn="ctr">
              <a:spcAft>
                <a:spcPts val="200"/>
              </a:spcAft>
              <a:buNone/>
            </a:pPr>
            <a:r>
              <a:rPr sz="3400" b="1" i="0">
                <a:solidFill>
                  <a:srgbClr val="176B3A"/>
                </a:solidFill>
                <a:latin typeface="Calibri"/>
              </a:rPr>
              <a:t>675.1</a:t>
            </a:r>
          </a:p>
          <a:p>
            <a:pPr algn="ctr">
              <a:spcAft>
                <a:spcPts val="0"/>
              </a:spcAft>
              <a:buNone/>
            </a:pPr>
            <a:r>
              <a:rPr sz="1300" b="0" i="0">
                <a:solidFill>
                  <a:srgbClr val="5A6673"/>
                </a:solidFill>
                <a:latin typeface="Calibri"/>
              </a:rPr>
              <a:t>koz contained metal</a:t>
            </a:r>
          </a:p>
        </p:txBody>
      </p:sp>
      <p:sp>
        <p:nvSpPr>
          <p:cNvPr id="15" name="Rounded Rectangle 14"/>
          <p:cNvSpPr/>
          <p:nvPr/>
        </p:nvSpPr>
        <p:spPr>
          <a:xfrm>
            <a:off x="8951976" y="2103120"/>
            <a:ext cx="2624328" cy="100584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098280" y="2258568"/>
            <a:ext cx="2331720" cy="694944"/>
          </a:xfrm>
          <a:prstGeom prst="rect">
            <a:avLst/>
          </a:prstGeom>
          <a:noFill/>
        </p:spPr>
        <p:txBody>
          <a:bodyPr wrap="square" lIns="18288" tIns="0" rIns="18288" bIns="0" anchor="t">
            <a:spAutoFit/>
          </a:bodyPr>
          <a:lstStyle/>
          <a:p>
            <a:pPr algn="ctr">
              <a:spcAft>
                <a:spcPts val="200"/>
              </a:spcAft>
              <a:buNone/>
            </a:pPr>
            <a:r>
              <a:rPr sz="3400" b="1" i="0">
                <a:solidFill>
                  <a:srgbClr val="0070C0"/>
                </a:solidFill>
                <a:latin typeface="Calibri"/>
              </a:rPr>
              <a:t>1.22</a:t>
            </a:r>
          </a:p>
          <a:p>
            <a:pPr algn="ctr">
              <a:spcAft>
                <a:spcPts val="0"/>
              </a:spcAft>
              <a:buNone/>
            </a:pPr>
            <a:r>
              <a:rPr sz="1300" b="0" i="0">
                <a:solidFill>
                  <a:srgbClr val="5A6673"/>
                </a:solidFill>
                <a:latin typeface="Calibri"/>
              </a:rPr>
              <a:t>w:o strip ratio</a:t>
            </a:r>
          </a:p>
        </p:txBody>
      </p:sp>
      <p:sp>
        <p:nvSpPr>
          <p:cNvPr id="17" name="Rounded Rectangle 16"/>
          <p:cNvSpPr/>
          <p:nvPr/>
        </p:nvSpPr>
        <p:spPr>
          <a:xfrm>
            <a:off x="530352" y="3273552"/>
            <a:ext cx="2624328" cy="100584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6656" y="3429000"/>
            <a:ext cx="2331720" cy="694944"/>
          </a:xfrm>
          <a:prstGeom prst="rect">
            <a:avLst/>
          </a:prstGeom>
          <a:noFill/>
        </p:spPr>
        <p:txBody>
          <a:bodyPr wrap="square" lIns="18288" tIns="0" rIns="18288" bIns="0" anchor="t">
            <a:spAutoFit/>
          </a:bodyPr>
          <a:lstStyle/>
          <a:p>
            <a:pPr algn="ctr">
              <a:spcAft>
                <a:spcPts val="200"/>
              </a:spcAft>
              <a:buNone/>
            </a:pPr>
            <a:r>
              <a:rPr sz="3400" b="1" i="0">
                <a:solidFill>
                  <a:srgbClr val="0070C0"/>
                </a:solidFill>
                <a:latin typeface="Calibri"/>
              </a:rPr>
              <a:t>14.43</a:t>
            </a:r>
          </a:p>
          <a:p>
            <a:pPr algn="ctr">
              <a:spcAft>
                <a:spcPts val="0"/>
              </a:spcAft>
              <a:buNone/>
            </a:pPr>
            <a:r>
              <a:rPr sz="1300" b="0" i="0">
                <a:solidFill>
                  <a:srgbClr val="5A6673"/>
                </a:solidFill>
                <a:latin typeface="Calibri"/>
              </a:rPr>
              <a:t>Mt in-situ resource</a:t>
            </a:r>
          </a:p>
        </p:txBody>
      </p:sp>
      <p:sp>
        <p:nvSpPr>
          <p:cNvPr id="19" name="Rounded Rectangle 18"/>
          <p:cNvSpPr/>
          <p:nvPr/>
        </p:nvSpPr>
        <p:spPr>
          <a:xfrm>
            <a:off x="3337560" y="3273552"/>
            <a:ext cx="2624328" cy="100584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3483864" y="3429000"/>
            <a:ext cx="2331720" cy="694944"/>
          </a:xfrm>
          <a:prstGeom prst="rect">
            <a:avLst/>
          </a:prstGeom>
          <a:noFill/>
        </p:spPr>
        <p:txBody>
          <a:bodyPr wrap="square" lIns="18288" tIns="0" rIns="18288" bIns="0" anchor="t">
            <a:spAutoFit/>
          </a:bodyPr>
          <a:lstStyle/>
          <a:p>
            <a:pPr algn="ctr">
              <a:spcAft>
                <a:spcPts val="200"/>
              </a:spcAft>
              <a:buNone/>
            </a:pPr>
            <a:r>
              <a:rPr sz="3400" b="1" i="0">
                <a:solidFill>
                  <a:srgbClr val="0070C0"/>
                </a:solidFill>
                <a:latin typeface="Calibri"/>
              </a:rPr>
              <a:t>0.192</a:t>
            </a:r>
          </a:p>
          <a:p>
            <a:pPr algn="ctr">
              <a:spcAft>
                <a:spcPts val="0"/>
              </a:spcAft>
              <a:buNone/>
            </a:pPr>
            <a:r>
              <a:rPr sz="1300" b="0" i="0">
                <a:solidFill>
                  <a:srgbClr val="5A6673"/>
                </a:solidFill>
                <a:latin typeface="Calibri"/>
              </a:rPr>
              <a:t>g/t cutoff grade</a:t>
            </a:r>
          </a:p>
        </p:txBody>
      </p:sp>
      <p:sp>
        <p:nvSpPr>
          <p:cNvPr id="21" name="Rounded Rectangle 20"/>
          <p:cNvSpPr/>
          <p:nvPr/>
        </p:nvSpPr>
        <p:spPr>
          <a:xfrm>
            <a:off x="6144768" y="3273552"/>
            <a:ext cx="2624328" cy="100584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291072" y="3429000"/>
            <a:ext cx="2331720" cy="694944"/>
          </a:xfrm>
          <a:prstGeom prst="rect">
            <a:avLst/>
          </a:prstGeom>
          <a:noFill/>
        </p:spPr>
        <p:txBody>
          <a:bodyPr wrap="square" lIns="18288" tIns="0" rIns="18288" bIns="0" anchor="t">
            <a:spAutoFit/>
          </a:bodyPr>
          <a:lstStyle/>
          <a:p>
            <a:pPr algn="ctr">
              <a:spcAft>
                <a:spcPts val="200"/>
              </a:spcAft>
              <a:buNone/>
            </a:pPr>
            <a:r>
              <a:rPr sz="3400" b="1" i="0">
                <a:solidFill>
                  <a:srgbClr val="0070C0"/>
                </a:solidFill>
                <a:latin typeface="Calibri"/>
              </a:rPr>
              <a:t>140</a:t>
            </a:r>
          </a:p>
          <a:p>
            <a:pPr algn="ctr">
              <a:spcAft>
                <a:spcPts val="0"/>
              </a:spcAft>
              <a:buNone/>
            </a:pPr>
            <a:r>
              <a:rPr sz="1300" b="0" i="0">
                <a:solidFill>
                  <a:srgbClr val="5A6673"/>
                </a:solidFill>
                <a:latin typeface="Calibri"/>
              </a:rPr>
              <a:t>m pit depth</a:t>
            </a:r>
          </a:p>
        </p:txBody>
      </p:sp>
      <p:sp>
        <p:nvSpPr>
          <p:cNvPr id="23" name="Rounded Rectangle 22"/>
          <p:cNvSpPr/>
          <p:nvPr/>
        </p:nvSpPr>
        <p:spPr>
          <a:xfrm>
            <a:off x="8951976" y="3273552"/>
            <a:ext cx="2624328" cy="100584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098280" y="3429000"/>
            <a:ext cx="2331720" cy="694944"/>
          </a:xfrm>
          <a:prstGeom prst="rect">
            <a:avLst/>
          </a:prstGeom>
          <a:noFill/>
        </p:spPr>
        <p:txBody>
          <a:bodyPr wrap="square" lIns="18288" tIns="0" rIns="18288" bIns="0" anchor="t">
            <a:spAutoFit/>
          </a:bodyPr>
          <a:lstStyle/>
          <a:p>
            <a:pPr algn="ctr">
              <a:spcAft>
                <a:spcPts val="200"/>
              </a:spcAft>
              <a:buNone/>
            </a:pPr>
            <a:r>
              <a:rPr sz="3400" b="1" i="0">
                <a:solidFill>
                  <a:srgbClr val="0070C0"/>
                </a:solidFill>
                <a:latin typeface="Calibri"/>
              </a:rPr>
              <a:t>7</a:t>
            </a:r>
          </a:p>
          <a:p>
            <a:pPr algn="ctr">
              <a:spcAft>
                <a:spcPts val="0"/>
              </a:spcAft>
              <a:buNone/>
            </a:pPr>
            <a:r>
              <a:rPr sz="1300" b="0" i="0">
                <a:solidFill>
                  <a:srgbClr val="5A6673"/>
                </a:solidFill>
                <a:latin typeface="Calibri"/>
              </a:rPr>
              <a:t>mining benches</a:t>
            </a:r>
          </a:p>
        </p:txBody>
      </p:sp>
      <p:sp>
        <p:nvSpPr>
          <p:cNvPr id="25" name="TextBox 24"/>
          <p:cNvSpPr txBox="1"/>
          <p:nvPr/>
        </p:nvSpPr>
        <p:spPr>
          <a:xfrm>
            <a:off x="384048" y="4590288"/>
            <a:ext cx="9601200" cy="457200"/>
          </a:xfrm>
          <a:prstGeom prst="rect">
            <a:avLst/>
          </a:prstGeom>
          <a:noFill/>
        </p:spPr>
        <p:txBody>
          <a:bodyPr wrap="square" lIns="18288" tIns="0" rIns="18288" bIns="0" anchor="t">
            <a:spAutoFit/>
          </a:bodyPr>
          <a:lstStyle/>
          <a:p>
            <a:pPr algn="l">
              <a:spcAft>
                <a:spcPts val="0"/>
              </a:spcAft>
              <a:buNone/>
            </a:pPr>
            <a:r>
              <a:rPr sz="2100" b="1" i="0">
                <a:solidFill>
                  <a:srgbClr val="0070C0"/>
                </a:solidFill>
                <a:latin typeface="Calibri"/>
              </a:rPr>
              <a:t>Reading these numbers correctly</a:t>
            </a:r>
          </a:p>
        </p:txBody>
      </p:sp>
      <p:sp>
        <p:nvSpPr>
          <p:cNvPr id="26" name="TextBox 25"/>
          <p:cNvSpPr txBox="1"/>
          <p:nvPr/>
        </p:nvSpPr>
        <p:spPr>
          <a:xfrm>
            <a:off x="530352" y="5065776"/>
            <a:ext cx="11064240" cy="1554480"/>
          </a:xfrm>
          <a:prstGeom prst="rect">
            <a:avLst/>
          </a:prstGeom>
          <a:noFill/>
        </p:spPr>
        <p:txBody>
          <a:bodyPr wrap="square" lIns="18288" tIns="0" rIns="18288" bIns="0" anchor="t">
            <a:spAutoFit/>
          </a:bodyPr>
          <a:lstStyle/>
          <a:p>
            <a:pPr marL="201168" indent="-164592" algn="l">
              <a:lnSpc>
                <a:spcPct val="97000"/>
              </a:lnSpc>
              <a:spcAft>
                <a:spcPts val="600"/>
              </a:spcAft>
              <a:buFont typeface="Arial"/>
              <a:buChar char="•"/>
            </a:pPr>
            <a:r>
              <a:rPr sz="1500" b="1" i="0">
                <a:solidFill>
                  <a:srgbClr val="0070C0"/>
                </a:solidFill>
                <a:latin typeface="Calibri"/>
              </a:rPr>
              <a:t>The resource figures are the model's. </a:t>
            </a:r>
            <a:r>
              <a:rPr sz="1500" b="0" i="0">
                <a:solidFill>
                  <a:srgbClr val="1A1F26"/>
                </a:solidFill>
                <a:latin typeface="Calibri"/>
              </a:rPr>
              <a:t>Tonnes, grade and contained metal come from the kriged block model constrained by the validated wireframe — they do not depend on any economic assumption.</a:t>
            </a:r>
          </a:p>
          <a:p>
            <a:pPr marL="201168" indent="-164592" algn="l">
              <a:lnSpc>
                <a:spcPct val="97000"/>
              </a:lnSpc>
              <a:spcAft>
                <a:spcPts val="600"/>
              </a:spcAft>
              <a:buFont typeface="Arial"/>
              <a:buChar char="•"/>
            </a:pPr>
            <a:r>
              <a:rPr sz="1500" b="1" i="0">
                <a:solidFill>
                  <a:srgbClr val="B85042"/>
                </a:solidFill>
                <a:latin typeface="Calibri"/>
              </a:rPr>
              <a:t>The pit figures carry assumptions. </a:t>
            </a:r>
            <a:r>
              <a:rPr sz="1500" b="0" i="0">
                <a:solidFill>
                  <a:srgbClr val="1A1F26"/>
                </a:solidFill>
                <a:latin typeface="Calibri"/>
              </a:rPr>
              <a:t>This run used neutral defaults — US$2,000/oz, mining $3.00/t, processing $25.00/t, G&amp;A $4.00/t, 90% recovery, 45° slope — each labelled “assumed_default” in the report's own assumptions table, not a costed study.</a:t>
            </a:r>
          </a:p>
          <a:p>
            <a:pPr marL="201168" indent="-164592" algn="l">
              <a:lnSpc>
                <a:spcPct val="97000"/>
              </a:lnSpc>
              <a:spcAft>
                <a:spcPts val="600"/>
              </a:spcAft>
              <a:buFont typeface="Arial"/>
              <a:buChar char="•"/>
            </a:pPr>
            <a:r>
              <a:rPr sz="1500" b="1" i="0">
                <a:solidFill>
                  <a:srgbClr val="0070C0"/>
                </a:solidFill>
                <a:latin typeface="Calibri"/>
              </a:rPr>
              <a:t>This run used deterministic mode. </a:t>
            </a:r>
            <a:r>
              <a:rPr sz="1500" b="0" i="0">
                <a:solidFill>
                  <a:srgbClr val="1A1F26"/>
                </a:solidFill>
                <a:latin typeface="Calibri"/>
              </a:rPr>
              <a:t>No language model was called; the cutoff and estimator came from coded convention, and the report states that in a banner at the top.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tIns="0" rIns="18288" bIns="0" anchor="t">
            <a:spAutoFit/>
          </a:bodyPr>
          <a:lstStyle/>
          <a:p>
            <a:pPr algn="l">
              <a:spcAft>
                <a:spcPts val="0"/>
              </a:spcAft>
              <a:buNone/>
            </a:pPr>
            <a:r>
              <a:rPr sz="3600" b="1" i="0">
                <a:solidFill>
                  <a:srgbClr val="00B050"/>
                </a:solidFill>
                <a:latin typeface="Calibri"/>
              </a:rPr>
              <a:t>Grade–Tonnage and Price Sensitivity</a:t>
            </a:r>
          </a:p>
        </p:txBody>
      </p:sp>
      <p:sp>
        <p:nvSpPr>
          <p:cNvPr id="8" name="TextBox 7"/>
          <p:cNvSpPr txBox="1"/>
          <p:nvPr/>
        </p:nvSpPr>
        <p:spPr>
          <a:xfrm>
            <a:off x="384048" y="987552"/>
            <a:ext cx="9601200" cy="457200"/>
          </a:xfrm>
          <a:prstGeom prst="rect">
            <a:avLst/>
          </a:prstGeom>
          <a:noFill/>
        </p:spPr>
        <p:txBody>
          <a:bodyPr wrap="square" lIns="18288" tIns="0" rIns="18288" bIns="0" anchor="t">
            <a:spAutoFit/>
          </a:bodyPr>
          <a:lstStyle/>
          <a:p>
            <a:pPr algn="l">
              <a:spcAft>
                <a:spcPts val="0"/>
              </a:spcAft>
              <a:buNone/>
            </a:pPr>
            <a:r>
              <a:rPr sz="2400" b="1" i="0">
                <a:solidFill>
                  <a:srgbClr val="0070C0"/>
                </a:solidFill>
                <a:latin typeface="Calibri"/>
              </a:rPr>
              <a:t>The two curves that drive every investment conversation</a:t>
            </a:r>
          </a:p>
        </p:txBody>
      </p:sp>
      <p:pic>
        <p:nvPicPr>
          <p:cNvPr id="9" name="Picture 8" descr="chart_gradetonnage.png"/>
          <p:cNvPicPr>
            <a:picLocks noChangeAspect="1"/>
          </p:cNvPicPr>
          <p:nvPr/>
        </p:nvPicPr>
        <p:blipFill>
          <a:blip r:embed="rId3"/>
          <a:stretch>
            <a:fillRect/>
          </a:stretch>
        </p:blipFill>
        <p:spPr>
          <a:xfrm>
            <a:off x="530352" y="1591056"/>
            <a:ext cx="6720840" cy="3834621"/>
          </a:xfrm>
          <a:prstGeom prst="rect">
            <a:avLst/>
          </a:prstGeom>
        </p:spPr>
      </p:pic>
      <p:sp>
        <p:nvSpPr>
          <p:cNvPr id="10" name="TextBox 9"/>
          <p:cNvSpPr txBox="1"/>
          <p:nvPr/>
        </p:nvSpPr>
        <p:spPr>
          <a:xfrm>
            <a:off x="530352" y="5596128"/>
            <a:ext cx="6720840" cy="365760"/>
          </a:xfrm>
          <a:prstGeom prst="rect">
            <a:avLst/>
          </a:prstGeom>
          <a:noFill/>
        </p:spPr>
        <p:txBody>
          <a:bodyPr wrap="square" lIns="18288" tIns="0" rIns="18288" bIns="0" anchor="t">
            <a:spAutoFit/>
          </a:bodyPr>
          <a:lstStyle/>
          <a:p>
            <a:pPr algn="ctr">
              <a:spcAft>
                <a:spcPts val="0"/>
              </a:spcAft>
              <a:buNone/>
            </a:pPr>
            <a:r>
              <a:rPr sz="1200" b="0" i="1">
                <a:solidFill>
                  <a:srgbClr val="5A6673"/>
                </a:solidFill>
                <a:latin typeface="Calibri"/>
              </a:rPr>
              <a:t>Tonnes above cutoff and the mean grade of that material, across a sweep of 25 cutoff grades</a:t>
            </a:r>
          </a:p>
        </p:txBody>
      </p:sp>
      <p:sp>
        <p:nvSpPr>
          <p:cNvPr id="11" name="Rounded Rectangle 10"/>
          <p:cNvSpPr/>
          <p:nvPr/>
        </p:nvSpPr>
        <p:spPr>
          <a:xfrm>
            <a:off x="7534656" y="2103120"/>
            <a:ext cx="4087368" cy="3931920"/>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735824" y="2267712"/>
            <a:ext cx="3685032" cy="3611880"/>
          </a:xfrm>
          <a:prstGeom prst="rect">
            <a:avLst/>
          </a:prstGeom>
          <a:noFill/>
        </p:spPr>
        <p:txBody>
          <a:bodyPr wrap="square" lIns="18288" tIns="0" rIns="18288" bIns="0" anchor="t">
            <a:spAutoFit/>
          </a:bodyPr>
          <a:lstStyle/>
          <a:p>
            <a:pPr algn="l">
              <a:spcAft>
                <a:spcPts val="900"/>
              </a:spcAft>
              <a:buNone/>
            </a:pPr>
            <a:r>
              <a:rPr sz="1900" b="1" i="0">
                <a:solidFill>
                  <a:srgbClr val="0070C0"/>
                </a:solidFill>
                <a:latin typeface="Calibri"/>
              </a:rPr>
              <a:t>How to read it</a:t>
            </a:r>
          </a:p>
          <a:p>
            <a:pPr algn="l">
              <a:lnSpc>
                <a:spcPct val="97000"/>
              </a:lnSpc>
              <a:spcAft>
                <a:spcPts val="300"/>
              </a:spcAft>
              <a:buNone/>
            </a:pPr>
            <a:r>
              <a:rPr sz="1450" b="1" i="0">
                <a:solidFill>
                  <a:srgbClr val="1A1F26"/>
                </a:solidFill>
                <a:latin typeface="Calibri"/>
              </a:rPr>
              <a:t>The trade-off is the whole point</a:t>
            </a:r>
          </a:p>
          <a:p>
            <a:pPr algn="l">
              <a:lnSpc>
                <a:spcPct val="97000"/>
              </a:lnSpc>
              <a:spcAft>
                <a:spcPts val="800"/>
              </a:spcAft>
              <a:buNone/>
            </a:pPr>
            <a:r>
              <a:rPr sz="1250" b="0" i="0">
                <a:solidFill>
                  <a:srgbClr val="5A6673"/>
                </a:solidFill>
                <a:latin typeface="Calibri"/>
              </a:rPr>
              <a:t>Raise the cutoff and the grade improves but the tonnage falls away. The curve shows exactly how fast.</a:t>
            </a:r>
          </a:p>
          <a:p>
            <a:pPr algn="l">
              <a:lnSpc>
                <a:spcPct val="97000"/>
              </a:lnSpc>
              <a:spcAft>
                <a:spcPts val="300"/>
              </a:spcAft>
              <a:buNone/>
            </a:pPr>
            <a:r>
              <a:rPr sz="1450" b="1" i="0">
                <a:solidFill>
                  <a:srgbClr val="1A1F26"/>
                </a:solidFill>
                <a:latin typeface="Calibri"/>
              </a:rPr>
              <a:t>It makes the cutoff decision visible</a:t>
            </a:r>
          </a:p>
          <a:p>
            <a:pPr algn="l">
              <a:lnSpc>
                <a:spcPct val="97000"/>
              </a:lnSpc>
              <a:spcAft>
                <a:spcPts val="800"/>
              </a:spcAft>
              <a:buNone/>
            </a:pPr>
            <a:r>
              <a:rPr sz="1250" b="0" i="0">
                <a:solidFill>
                  <a:srgbClr val="5A6673"/>
                </a:solidFill>
                <a:latin typeface="Calibri"/>
              </a:rPr>
              <a:t>Rather than a single number asserted in a paragraph, the consequence of choosing it is plotted.</a:t>
            </a:r>
          </a:p>
          <a:p>
            <a:pPr algn="l">
              <a:lnSpc>
                <a:spcPct val="97000"/>
              </a:lnSpc>
              <a:spcAft>
                <a:spcPts val="300"/>
              </a:spcAft>
              <a:buNone/>
            </a:pPr>
            <a:r>
              <a:rPr sz="1450" b="1" i="0">
                <a:solidFill>
                  <a:srgbClr val="1A1F26"/>
                </a:solidFill>
                <a:latin typeface="Calibri"/>
              </a:rPr>
              <a:t>Nested shells do the same for price</a:t>
            </a:r>
          </a:p>
          <a:p>
            <a:pPr algn="l">
              <a:lnSpc>
                <a:spcPct val="97000"/>
              </a:lnSpc>
              <a:spcAft>
                <a:spcPts val="800"/>
              </a:spcAft>
              <a:buNone/>
            </a:pPr>
            <a:r>
              <a:rPr sz="1250" b="0" i="0">
                <a:solidFill>
                  <a:srgbClr val="5A6673"/>
                </a:solidFill>
                <a:latin typeface="Calibri"/>
              </a:rPr>
              <a:t>Running the optimizer from 0.4× to 1.2× the base price shows which tonnes pay for themselves even when prices are low.</a:t>
            </a:r>
          </a:p>
          <a:p>
            <a:pPr algn="l">
              <a:lnSpc>
                <a:spcPct val="97000"/>
              </a:lnSpc>
              <a:spcAft>
                <a:spcPts val="300"/>
              </a:spcAft>
              <a:buNone/>
            </a:pPr>
            <a:r>
              <a:rPr sz="1450" b="1" i="0">
                <a:solidFill>
                  <a:srgbClr val="1A1F26"/>
                </a:solidFill>
                <a:latin typeface="Calibri"/>
              </a:rPr>
              <a:t>Both come from the block model</a:t>
            </a:r>
          </a:p>
          <a:p>
            <a:pPr algn="l">
              <a:lnSpc>
                <a:spcPct val="97000"/>
              </a:lnSpc>
              <a:spcAft>
                <a:spcPts val="800"/>
              </a:spcAft>
              <a:buNone/>
            </a:pPr>
            <a:r>
              <a:rPr sz="1250" b="0" i="0">
                <a:solidFill>
                  <a:srgbClr val="5A6673"/>
                </a:solidFill>
                <a:latin typeface="Calibri"/>
              </a:rPr>
              <a:t>Not from a model's prose — from the same estimated blocks that produced the resource statement.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tIns="0" rIns="18288" bIns="0" anchor="t">
            <a:spAutoFit/>
          </a:bodyPr>
          <a:lstStyle/>
          <a:p>
            <a:pPr algn="l">
              <a:spcAft>
                <a:spcPts val="0"/>
              </a:spcAft>
              <a:buNone/>
            </a:pPr>
            <a:r>
              <a:rPr sz="3600" b="1" i="0">
                <a:solidFill>
                  <a:srgbClr val="00B050"/>
                </a:solidFill>
                <a:latin typeface="Calibri"/>
              </a:rPr>
              <a:t>How We Know The Numbers Are Right</a:t>
            </a:r>
          </a:p>
        </p:txBody>
      </p:sp>
      <p:sp>
        <p:nvSpPr>
          <p:cNvPr id="8" name="TextBox 7"/>
          <p:cNvSpPr txBox="1"/>
          <p:nvPr/>
        </p:nvSpPr>
        <p:spPr>
          <a:xfrm>
            <a:off x="384048" y="987552"/>
            <a:ext cx="9601200" cy="457200"/>
          </a:xfrm>
          <a:prstGeom prst="rect">
            <a:avLst/>
          </a:prstGeom>
          <a:noFill/>
        </p:spPr>
        <p:txBody>
          <a:bodyPr wrap="square" lIns="18288" tIns="0" rIns="18288" bIns="0" anchor="t">
            <a:spAutoFit/>
          </a:bodyPr>
          <a:lstStyle/>
          <a:p>
            <a:pPr algn="l">
              <a:spcAft>
                <a:spcPts val="0"/>
              </a:spcAft>
              <a:buNone/>
            </a:pPr>
            <a:r>
              <a:rPr sz="2400" b="1" i="0">
                <a:solidFill>
                  <a:srgbClr val="0070C0"/>
                </a:solidFill>
                <a:latin typeface="Calibri"/>
              </a:rPr>
              <a:t>Checked against known answers, not against previous output</a:t>
            </a:r>
          </a:p>
        </p:txBody>
      </p:sp>
      <p:sp>
        <p:nvSpPr>
          <p:cNvPr id="9" name="Rounded Rectangle 8"/>
          <p:cNvSpPr/>
          <p:nvPr/>
        </p:nvSpPr>
        <p:spPr>
          <a:xfrm>
            <a:off x="530352" y="2103120"/>
            <a:ext cx="3566160" cy="859536"/>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94944" y="2221991"/>
            <a:ext cx="3236976" cy="676656"/>
          </a:xfrm>
          <a:prstGeom prst="rect">
            <a:avLst/>
          </a:prstGeom>
          <a:noFill/>
        </p:spPr>
        <p:txBody>
          <a:bodyPr wrap="square" lIns="18288" tIns="0" rIns="18288" bIns="0" anchor="t">
            <a:spAutoFit/>
          </a:bodyPr>
          <a:lstStyle/>
          <a:p>
            <a:pPr algn="l">
              <a:lnSpc>
                <a:spcPct val="95000"/>
              </a:lnSpc>
              <a:spcAft>
                <a:spcPts val="200"/>
              </a:spcAft>
              <a:buNone/>
            </a:pPr>
            <a:r>
              <a:rPr sz="1500" b="1" i="0">
                <a:solidFill>
                  <a:srgbClr val="176B3A"/>
                </a:solidFill>
                <a:latin typeface="Calibri"/>
              </a:rPr>
              <a:t>Desurvey</a:t>
            </a:r>
          </a:p>
          <a:p>
            <a:pPr algn="l">
              <a:lnSpc>
                <a:spcPct val="95000"/>
              </a:lnSpc>
              <a:spcAft>
                <a:spcPts val="0"/>
              </a:spcAft>
              <a:buNone/>
            </a:pPr>
            <a:r>
              <a:rPr sz="1250" b="0" i="0">
                <a:solidFill>
                  <a:srgbClr val="1A1F26"/>
                </a:solidFill>
                <a:latin typeface="Calibri"/>
              </a:rPr>
              <a:t>against closed-form trigonometry</a:t>
            </a:r>
          </a:p>
        </p:txBody>
      </p:sp>
      <p:sp>
        <p:nvSpPr>
          <p:cNvPr id="11" name="Rounded Rectangle 10"/>
          <p:cNvSpPr/>
          <p:nvPr/>
        </p:nvSpPr>
        <p:spPr>
          <a:xfrm>
            <a:off x="4265676" y="2103120"/>
            <a:ext cx="3566160" cy="859536"/>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430268" y="2221991"/>
            <a:ext cx="3236976" cy="676656"/>
          </a:xfrm>
          <a:prstGeom prst="rect">
            <a:avLst/>
          </a:prstGeom>
          <a:noFill/>
        </p:spPr>
        <p:txBody>
          <a:bodyPr wrap="square" lIns="18288" tIns="0" rIns="18288" bIns="0" anchor="t">
            <a:spAutoFit/>
          </a:bodyPr>
          <a:lstStyle/>
          <a:p>
            <a:pPr algn="l">
              <a:lnSpc>
                <a:spcPct val="95000"/>
              </a:lnSpc>
              <a:spcAft>
                <a:spcPts val="200"/>
              </a:spcAft>
              <a:buNone/>
            </a:pPr>
            <a:r>
              <a:rPr sz="1500" b="1" i="0">
                <a:solidFill>
                  <a:srgbClr val="176B3A"/>
                </a:solidFill>
                <a:latin typeface="Calibri"/>
              </a:rPr>
              <a:t>Solid volume &amp; area</a:t>
            </a:r>
          </a:p>
          <a:p>
            <a:pPr algn="l">
              <a:lnSpc>
                <a:spcPct val="95000"/>
              </a:lnSpc>
              <a:spcAft>
                <a:spcPts val="0"/>
              </a:spcAft>
              <a:buNone/>
            </a:pPr>
            <a:r>
              <a:rPr sz="1250" b="0" i="0">
                <a:solidFill>
                  <a:srgbClr val="1A1F26"/>
                </a:solidFill>
                <a:latin typeface="Calibri"/>
              </a:rPr>
              <a:t>against an analytic cylinder, to within 0.3%</a:t>
            </a:r>
          </a:p>
        </p:txBody>
      </p:sp>
      <p:sp>
        <p:nvSpPr>
          <p:cNvPr id="13" name="Rounded Rectangle 12"/>
          <p:cNvSpPr/>
          <p:nvPr/>
        </p:nvSpPr>
        <p:spPr>
          <a:xfrm>
            <a:off x="8001000" y="2103120"/>
            <a:ext cx="3566160" cy="859536"/>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165592" y="2221991"/>
            <a:ext cx="3236976" cy="676656"/>
          </a:xfrm>
          <a:prstGeom prst="rect">
            <a:avLst/>
          </a:prstGeom>
          <a:noFill/>
        </p:spPr>
        <p:txBody>
          <a:bodyPr wrap="square" lIns="18288" tIns="0" rIns="18288" bIns="0" anchor="t">
            <a:spAutoFit/>
          </a:bodyPr>
          <a:lstStyle/>
          <a:p>
            <a:pPr algn="l">
              <a:lnSpc>
                <a:spcPct val="95000"/>
              </a:lnSpc>
              <a:spcAft>
                <a:spcPts val="200"/>
              </a:spcAft>
              <a:buNone/>
            </a:pPr>
            <a:r>
              <a:rPr sz="1500" b="1" i="0">
                <a:solidFill>
                  <a:srgbClr val="176B3A"/>
                </a:solidFill>
                <a:latin typeface="Calibri"/>
              </a:rPr>
              <a:t>Point-in-solid</a:t>
            </a:r>
          </a:p>
          <a:p>
            <a:pPr algn="l">
              <a:lnSpc>
                <a:spcPct val="95000"/>
              </a:lnSpc>
              <a:spcAft>
                <a:spcPts val="0"/>
              </a:spcAft>
              <a:buNone/>
            </a:pPr>
            <a:r>
              <a:rPr sz="1250" b="0" i="0">
                <a:solidFill>
                  <a:srgbClr val="1A1F26"/>
                </a:solidFill>
                <a:latin typeface="Calibri"/>
              </a:rPr>
              <a:t>against Monte Carlo integration</a:t>
            </a:r>
          </a:p>
        </p:txBody>
      </p:sp>
      <p:sp>
        <p:nvSpPr>
          <p:cNvPr id="15" name="Rounded Rectangle 14"/>
          <p:cNvSpPr/>
          <p:nvPr/>
        </p:nvSpPr>
        <p:spPr>
          <a:xfrm>
            <a:off x="530352" y="3072384"/>
            <a:ext cx="3566160" cy="859536"/>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94944" y="3191256"/>
            <a:ext cx="3236976" cy="676656"/>
          </a:xfrm>
          <a:prstGeom prst="rect">
            <a:avLst/>
          </a:prstGeom>
          <a:noFill/>
        </p:spPr>
        <p:txBody>
          <a:bodyPr wrap="square" lIns="18288" tIns="0" rIns="18288" bIns="0" anchor="t">
            <a:spAutoFit/>
          </a:bodyPr>
          <a:lstStyle/>
          <a:p>
            <a:pPr algn="l">
              <a:lnSpc>
                <a:spcPct val="95000"/>
              </a:lnSpc>
              <a:spcAft>
                <a:spcPts val="200"/>
              </a:spcAft>
              <a:buNone/>
            </a:pPr>
            <a:r>
              <a:rPr sz="1500" b="1" i="0">
                <a:solidFill>
                  <a:srgbClr val="176B3A"/>
                </a:solidFill>
                <a:latin typeface="Calibri"/>
              </a:rPr>
              <a:t>Kriging weights</a:t>
            </a:r>
          </a:p>
          <a:p>
            <a:pPr algn="l">
              <a:lnSpc>
                <a:spcPct val="95000"/>
              </a:lnSpc>
              <a:spcAft>
                <a:spcPts val="0"/>
              </a:spcAft>
              <a:buNone/>
            </a:pPr>
            <a:r>
              <a:rPr sz="1250" b="0" i="0">
                <a:solidFill>
                  <a:srgbClr val="1A1F26"/>
                </a:solidFill>
                <a:latin typeface="Calibri"/>
              </a:rPr>
              <a:t>against the unbiasedness property (Σw = 1)</a:t>
            </a:r>
          </a:p>
        </p:txBody>
      </p:sp>
      <p:sp>
        <p:nvSpPr>
          <p:cNvPr id="17" name="Rounded Rectangle 16"/>
          <p:cNvSpPr/>
          <p:nvPr/>
        </p:nvSpPr>
        <p:spPr>
          <a:xfrm>
            <a:off x="4265676" y="3072384"/>
            <a:ext cx="3566160" cy="859536"/>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430268" y="3191256"/>
            <a:ext cx="3236976" cy="676656"/>
          </a:xfrm>
          <a:prstGeom prst="rect">
            <a:avLst/>
          </a:prstGeom>
          <a:noFill/>
        </p:spPr>
        <p:txBody>
          <a:bodyPr wrap="square" lIns="18288" tIns="0" rIns="18288" bIns="0" anchor="t">
            <a:spAutoFit/>
          </a:bodyPr>
          <a:lstStyle/>
          <a:p>
            <a:pPr algn="l">
              <a:lnSpc>
                <a:spcPct val="95000"/>
              </a:lnSpc>
              <a:spcAft>
                <a:spcPts val="200"/>
              </a:spcAft>
              <a:buNone/>
            </a:pPr>
            <a:r>
              <a:rPr sz="1500" b="1" i="0">
                <a:solidFill>
                  <a:srgbClr val="176B3A"/>
                </a:solidFill>
                <a:latin typeface="Calibri"/>
              </a:rPr>
              <a:t>Pit optimizer</a:t>
            </a:r>
          </a:p>
          <a:p>
            <a:pPr algn="l">
              <a:lnSpc>
                <a:spcPct val="95000"/>
              </a:lnSpc>
              <a:spcAft>
                <a:spcPts val="0"/>
              </a:spcAft>
              <a:buNone/>
            </a:pPr>
            <a:r>
              <a:rPr sz="1250" b="0" i="0">
                <a:solidFill>
                  <a:srgbClr val="1A1F26"/>
                </a:solidFill>
                <a:latin typeface="Calibri"/>
              </a:rPr>
              <a:t>against brute-force enumeration, plus a closure check</a:t>
            </a:r>
          </a:p>
        </p:txBody>
      </p:sp>
      <p:sp>
        <p:nvSpPr>
          <p:cNvPr id="19" name="Rounded Rectangle 18"/>
          <p:cNvSpPr/>
          <p:nvPr/>
        </p:nvSpPr>
        <p:spPr>
          <a:xfrm>
            <a:off x="8001000" y="3072384"/>
            <a:ext cx="3566160" cy="859536"/>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165592" y="3191256"/>
            <a:ext cx="3236976" cy="676656"/>
          </a:xfrm>
          <a:prstGeom prst="rect">
            <a:avLst/>
          </a:prstGeom>
          <a:noFill/>
        </p:spPr>
        <p:txBody>
          <a:bodyPr wrap="square" lIns="18288" tIns="0" rIns="18288" bIns="0" anchor="t">
            <a:spAutoFit/>
          </a:bodyPr>
          <a:lstStyle/>
          <a:p>
            <a:pPr algn="l">
              <a:lnSpc>
                <a:spcPct val="95000"/>
              </a:lnSpc>
              <a:spcAft>
                <a:spcPts val="200"/>
              </a:spcAft>
              <a:buNone/>
            </a:pPr>
            <a:r>
              <a:rPr sz="1500" b="1" i="0">
                <a:solidFill>
                  <a:srgbClr val="176B3A"/>
                </a:solidFill>
                <a:latin typeface="Calibri"/>
              </a:rPr>
              <a:t>Bench volumes</a:t>
            </a:r>
          </a:p>
          <a:p>
            <a:pPr algn="l">
              <a:lnSpc>
                <a:spcPct val="95000"/>
              </a:lnSpc>
              <a:spcAft>
                <a:spcPts val="0"/>
              </a:spcAft>
              <a:buNone/>
            </a:pPr>
            <a:r>
              <a:rPr sz="1250" b="0" i="0">
                <a:solidFill>
                  <a:srgbClr val="1A1F26"/>
                </a:solidFill>
                <a:latin typeface="Calibri"/>
              </a:rPr>
              <a:t>against the optimizer's own total, to machine precision</a:t>
            </a:r>
          </a:p>
        </p:txBody>
      </p:sp>
      <p:sp>
        <p:nvSpPr>
          <p:cNvPr id="21" name="TextBox 20"/>
          <p:cNvSpPr txBox="1"/>
          <p:nvPr/>
        </p:nvSpPr>
        <p:spPr>
          <a:xfrm>
            <a:off x="384048" y="4169663"/>
            <a:ext cx="9601200" cy="457200"/>
          </a:xfrm>
          <a:prstGeom prst="rect">
            <a:avLst/>
          </a:prstGeom>
          <a:noFill/>
        </p:spPr>
        <p:txBody>
          <a:bodyPr wrap="square" lIns="18288" tIns="0" rIns="18288" bIns="0" anchor="t">
            <a:spAutoFit/>
          </a:bodyPr>
          <a:lstStyle/>
          <a:p>
            <a:pPr algn="l">
              <a:spcAft>
                <a:spcPts val="0"/>
              </a:spcAft>
              <a:buNone/>
            </a:pPr>
            <a:r>
              <a:rPr sz="2100" b="1" i="0">
                <a:solidFill>
                  <a:srgbClr val="0070C0"/>
                </a:solidFill>
                <a:latin typeface="Calibri"/>
              </a:rPr>
              <a:t>And what the report tells you about itself</a:t>
            </a:r>
          </a:p>
        </p:txBody>
      </p:sp>
      <p:sp>
        <p:nvSpPr>
          <p:cNvPr id="22" name="TextBox 21"/>
          <p:cNvSpPr txBox="1"/>
          <p:nvPr/>
        </p:nvSpPr>
        <p:spPr>
          <a:xfrm>
            <a:off x="530352" y="4626864"/>
            <a:ext cx="11064240" cy="1234440"/>
          </a:xfrm>
          <a:prstGeom prst="rect">
            <a:avLst/>
          </a:prstGeom>
          <a:noFill/>
        </p:spPr>
        <p:txBody>
          <a:bodyPr wrap="square" lIns="18288" tIns="0" rIns="18288" bIns="0" anchor="t">
            <a:spAutoFit/>
          </a:bodyPr>
          <a:lstStyle/>
          <a:p>
            <a:pPr marL="201168" indent="-164592" algn="l">
              <a:lnSpc>
                <a:spcPct val="98000"/>
              </a:lnSpc>
              <a:spcAft>
                <a:spcPts val="500"/>
              </a:spcAft>
              <a:buFont typeface="Arial"/>
              <a:buChar char="•"/>
            </a:pPr>
            <a:r>
              <a:rPr sz="1600" b="0" i="0">
                <a:solidFill>
                  <a:srgbClr val="1A1F26"/>
                </a:solidFill>
                <a:latin typeface="Calibri"/>
              </a:rPr>
              <a:t>Every data-quality issue found during ingestion appears in a banner near the top, before any result</a:t>
            </a:r>
          </a:p>
          <a:p>
            <a:pPr marL="201168" indent="-164592" algn="l">
              <a:lnSpc>
                <a:spcPct val="98000"/>
              </a:lnSpc>
              <a:spcAft>
                <a:spcPts val="500"/>
              </a:spcAft>
              <a:buFont typeface="Arial"/>
              <a:buChar char="•"/>
            </a:pPr>
            <a:r>
              <a:rPr sz="1600" b="0" i="0">
                <a:solidFill>
                  <a:srgbClr val="1A1F26"/>
                </a:solidFill>
                <a:latin typeface="Calibri"/>
              </a:rPr>
              <a:t>Which route each judgement call took — paid model, local model or coded convention — is recorded and stated</a:t>
            </a:r>
          </a:p>
          <a:p>
            <a:pPr marL="201168" indent="-164592" algn="l">
              <a:lnSpc>
                <a:spcPct val="98000"/>
              </a:lnSpc>
              <a:spcAft>
                <a:spcPts val="500"/>
              </a:spcAft>
              <a:buFont typeface="Arial"/>
              <a:buChar char="•"/>
            </a:pPr>
            <a:r>
              <a:rPr sz="1600" b="0" i="0">
                <a:solidFill>
                  <a:srgbClr val="1A1F26"/>
                </a:solidFill>
                <a:latin typeface="Calibri"/>
              </a:rPr>
              <a:t>Every economic input is listed with its origin: user_supplied or assumed_default</a:t>
            </a:r>
          </a:p>
          <a:p>
            <a:pPr marL="201168" indent="-164592" algn="l">
              <a:lnSpc>
                <a:spcPct val="98000"/>
              </a:lnSpc>
              <a:spcAft>
                <a:spcPts val="500"/>
              </a:spcAft>
              <a:buFont typeface="Arial"/>
              <a:buChar char="•"/>
            </a:pPr>
            <a:r>
              <a:rPr sz="1600" b="0" i="0">
                <a:solidFill>
                  <a:srgbClr val="1A1F26"/>
                </a:solidFill>
                <a:latin typeface="Calibri"/>
              </a:rPr>
              <a:t>The full validation report, descriptive statistics, composite file and block model are included and searchable</a:t>
            </a:r>
          </a:p>
        </p:txBody>
      </p:sp>
      <p:sp>
        <p:nvSpPr>
          <p:cNvPr id="23" name="Rounded Rectangle 22"/>
          <p:cNvSpPr/>
          <p:nvPr/>
        </p:nvSpPr>
        <p:spPr>
          <a:xfrm>
            <a:off x="530352" y="5888736"/>
            <a:ext cx="11091672" cy="749808"/>
          </a:xfrm>
          <a:prstGeom prst="roundRect">
            <a:avLst>
              <a:gd name="adj" fmla="val 6000"/>
            </a:avLst>
          </a:prstGeom>
          <a:solidFill>
            <a:srgbClr val="FDECEB"/>
          </a:solidFill>
          <a:ln w="12700">
            <a:solidFill>
              <a:srgbClr val="F0C4C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49808" y="6007608"/>
            <a:ext cx="10652760" cy="566928"/>
          </a:xfrm>
          <a:prstGeom prst="rect">
            <a:avLst/>
          </a:prstGeom>
          <a:noFill/>
        </p:spPr>
        <p:txBody>
          <a:bodyPr wrap="square" lIns="18288" tIns="0" rIns="18288" bIns="0" anchor="t">
            <a:spAutoFit/>
          </a:bodyPr>
          <a:lstStyle/>
          <a:p>
            <a:pPr algn="l">
              <a:lnSpc>
                <a:spcPct val="97000"/>
              </a:lnSpc>
              <a:spcAft>
                <a:spcPts val="0"/>
              </a:spcAft>
              <a:buNone/>
            </a:pPr>
            <a:r>
              <a:rPr sz="1400" b="1" i="0">
                <a:solidFill>
                  <a:srgbClr val="B85042"/>
                </a:solidFill>
                <a:latin typeface="Calibri"/>
              </a:rPr>
              <a:t>Stated plainly, in the tool and here: </a:t>
            </a:r>
            <a:r>
              <a:rPr sz="1400" b="0" i="0">
                <a:solidFill>
                  <a:srgbClr val="1A1F26"/>
                </a:solidFill>
                <a:latin typeface="Calibri"/>
              </a:rPr>
              <a:t>this is decision support, not a JORC or NI 43-101 resource statement. The cutoff grade, the estimator choice and the pit economics need a mining engineer's review before any output informs a real decision.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tIns="0" rIns="18288" bIns="0" anchor="t">
            <a:spAutoFit/>
          </a:bodyPr>
          <a:lstStyle/>
          <a:p>
            <a:pPr algn="l">
              <a:spcAft>
                <a:spcPts val="0"/>
              </a:spcAft>
              <a:buNone/>
            </a:pPr>
            <a:r>
              <a:rPr sz="3600" b="1" i="0">
                <a:solidFill>
                  <a:srgbClr val="00B050"/>
                </a:solidFill>
                <a:latin typeface="Calibri"/>
              </a:rPr>
              <a:t>Deployment and Where This Goes Next</a:t>
            </a:r>
          </a:p>
        </p:txBody>
      </p:sp>
      <p:sp>
        <p:nvSpPr>
          <p:cNvPr id="8" name="TextBox 7"/>
          <p:cNvSpPr txBox="1"/>
          <p:nvPr/>
        </p:nvSpPr>
        <p:spPr>
          <a:xfrm>
            <a:off x="384048" y="987552"/>
            <a:ext cx="9601200" cy="457200"/>
          </a:xfrm>
          <a:prstGeom prst="rect">
            <a:avLst/>
          </a:prstGeom>
          <a:noFill/>
        </p:spPr>
        <p:txBody>
          <a:bodyPr wrap="square" lIns="18288" tIns="0" rIns="18288" bIns="0" anchor="t">
            <a:spAutoFit/>
          </a:bodyPr>
          <a:lstStyle/>
          <a:p>
            <a:pPr algn="l">
              <a:spcAft>
                <a:spcPts val="0"/>
              </a:spcAft>
              <a:buNone/>
            </a:pPr>
            <a:r>
              <a:rPr sz="2400" b="1" i="0">
                <a:solidFill>
                  <a:srgbClr val="0070C0"/>
                </a:solidFill>
                <a:latin typeface="Calibri"/>
              </a:rPr>
              <a:t>Already runnable two ways; built to be embedded</a:t>
            </a:r>
          </a:p>
        </p:txBody>
      </p:sp>
      <p:sp>
        <p:nvSpPr>
          <p:cNvPr id="9" name="Rounded Rectangle 8"/>
          <p:cNvSpPr/>
          <p:nvPr/>
        </p:nvSpPr>
        <p:spPr>
          <a:xfrm>
            <a:off x="530352" y="2103120"/>
            <a:ext cx="5394960" cy="201168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49808" y="2267712"/>
            <a:ext cx="4956048" cy="1719072"/>
          </a:xfrm>
          <a:prstGeom prst="rect">
            <a:avLst/>
          </a:prstGeom>
          <a:noFill/>
        </p:spPr>
        <p:txBody>
          <a:bodyPr wrap="square" lIns="18288" tIns="0" rIns="18288" bIns="0" anchor="t">
            <a:spAutoFit/>
          </a:bodyPr>
          <a:lstStyle/>
          <a:p>
            <a:pPr algn="l">
              <a:spcAft>
                <a:spcPts val="700"/>
              </a:spcAft>
              <a:buNone/>
            </a:pPr>
            <a:r>
              <a:rPr sz="1900" b="1" i="0">
                <a:solidFill>
                  <a:srgbClr val="0070C0"/>
                </a:solidFill>
                <a:latin typeface="Calibri"/>
              </a:rPr>
              <a:t>Available today</a:t>
            </a:r>
          </a:p>
          <a:p>
            <a:pPr marL="201168" indent="-164592" algn="l">
              <a:lnSpc>
                <a:spcPct val="97000"/>
              </a:lnSpc>
              <a:spcAft>
                <a:spcPts val="600"/>
              </a:spcAft>
              <a:buFont typeface="Arial"/>
              <a:buChar char="•"/>
            </a:pPr>
            <a:r>
              <a:rPr sz="1450" b="0" i="0">
                <a:solidFill>
                  <a:srgbClr val="1A1F26"/>
                </a:solidFill>
                <a:latin typeface="Calibri"/>
              </a:rPr>
              <a:t>Command-line tool — one command, four files, one report</a:t>
            </a:r>
          </a:p>
          <a:p>
            <a:pPr marL="201168" indent="-164592" algn="l">
              <a:lnSpc>
                <a:spcPct val="97000"/>
              </a:lnSpc>
              <a:spcAft>
                <a:spcPts val="600"/>
              </a:spcAft>
              <a:buFont typeface="Arial"/>
              <a:buChar char="•"/>
            </a:pPr>
            <a:r>
              <a:rPr sz="1450" b="0" i="0">
                <a:solidFill>
                  <a:srgbClr val="1A1F26"/>
                </a:solidFill>
                <a:latin typeface="Calibri"/>
              </a:rPr>
              <a:t>FastAPI service — six endpoints, server paths or uploads</a:t>
            </a:r>
          </a:p>
          <a:p>
            <a:pPr marL="201168" indent="-164592" algn="l">
              <a:lnSpc>
                <a:spcPct val="97000"/>
              </a:lnSpc>
              <a:spcAft>
                <a:spcPts val="600"/>
              </a:spcAft>
              <a:buFont typeface="Arial"/>
              <a:buChar char="•"/>
            </a:pPr>
            <a:r>
              <a:rPr sz="1450" b="0" i="0">
                <a:solidFill>
                  <a:srgbClr val="1A1F26"/>
                </a:solidFill>
                <a:latin typeface="Calibri"/>
              </a:rPr>
              <a:t>Offline mode — completes with no API calls and no cost</a:t>
            </a:r>
          </a:p>
          <a:p>
            <a:pPr marL="201168" indent="-164592" algn="l">
              <a:lnSpc>
                <a:spcPct val="97000"/>
              </a:lnSpc>
              <a:spcAft>
                <a:spcPts val="600"/>
              </a:spcAft>
              <a:buFont typeface="Arial"/>
              <a:buChar char="•"/>
            </a:pPr>
            <a:r>
              <a:rPr sz="1450" b="0" i="0">
                <a:solidFill>
                  <a:srgbClr val="1A1F26"/>
                </a:solidFill>
                <a:latin typeface="Calibri"/>
              </a:rPr>
              <a:t>Open Python package, 31 modules, MIT licensed</a:t>
            </a:r>
          </a:p>
        </p:txBody>
      </p:sp>
      <p:sp>
        <p:nvSpPr>
          <p:cNvPr id="11" name="Rounded Rectangle 10"/>
          <p:cNvSpPr/>
          <p:nvPr/>
        </p:nvSpPr>
        <p:spPr>
          <a:xfrm>
            <a:off x="6227064" y="2103120"/>
            <a:ext cx="5394960" cy="2011680"/>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46520" y="2267712"/>
            <a:ext cx="4956048" cy="1719072"/>
          </a:xfrm>
          <a:prstGeom prst="rect">
            <a:avLst/>
          </a:prstGeom>
          <a:noFill/>
        </p:spPr>
        <p:txBody>
          <a:bodyPr wrap="square" lIns="18288" tIns="0" rIns="18288" bIns="0" anchor="t">
            <a:spAutoFit/>
          </a:bodyPr>
          <a:lstStyle/>
          <a:p>
            <a:pPr algn="l">
              <a:spcAft>
                <a:spcPts val="700"/>
              </a:spcAft>
              <a:buNone/>
            </a:pPr>
            <a:r>
              <a:rPr sz="1900" b="1" i="0">
                <a:solidFill>
                  <a:srgbClr val="176B3A"/>
                </a:solidFill>
                <a:latin typeface="Calibri"/>
              </a:rPr>
              <a:t>Natural next steps</a:t>
            </a:r>
          </a:p>
          <a:p>
            <a:pPr marL="201168" indent="-164592" algn="l">
              <a:lnSpc>
                <a:spcPct val="97000"/>
              </a:lnSpc>
              <a:spcAft>
                <a:spcPts val="600"/>
              </a:spcAft>
              <a:buFont typeface="Arial"/>
              <a:buChar char="•"/>
            </a:pPr>
            <a:r>
              <a:rPr sz="1450" b="0" i="0">
                <a:solidFill>
                  <a:srgbClr val="1A1F26"/>
                </a:solidFill>
                <a:latin typeface="Calibri"/>
              </a:rPr>
              <a:t>Calibrate economics to Ecomine's own cost model</a:t>
            </a:r>
          </a:p>
          <a:p>
            <a:pPr marL="201168" indent="-164592" algn="l">
              <a:lnSpc>
                <a:spcPct val="97000"/>
              </a:lnSpc>
              <a:spcAft>
                <a:spcPts val="600"/>
              </a:spcAft>
              <a:buFont typeface="Arial"/>
              <a:buChar char="•"/>
            </a:pPr>
            <a:r>
              <a:rPr sz="1450" b="0" i="0">
                <a:solidFill>
                  <a:srgbClr val="1A1F26"/>
                </a:solidFill>
                <a:latin typeface="Calibri"/>
              </a:rPr>
              <a:t>Density by rock type from measured core, replacing the default</a:t>
            </a:r>
          </a:p>
          <a:p>
            <a:pPr marL="201168" indent="-164592" algn="l">
              <a:lnSpc>
                <a:spcPct val="97000"/>
              </a:lnSpc>
              <a:spcAft>
                <a:spcPts val="600"/>
              </a:spcAft>
              <a:buFont typeface="Arial"/>
              <a:buChar char="•"/>
            </a:pPr>
            <a:r>
              <a:rPr sz="1450" b="0" i="0">
                <a:solidFill>
                  <a:srgbClr val="1A1F26"/>
                </a:solidFill>
                <a:latin typeface="Calibri"/>
              </a:rPr>
              <a:t>Validate against a deposit where a Surpac estimate exists</a:t>
            </a:r>
          </a:p>
          <a:p>
            <a:pPr marL="201168" indent="-164592" algn="l">
              <a:lnSpc>
                <a:spcPct val="97000"/>
              </a:lnSpc>
              <a:spcAft>
                <a:spcPts val="600"/>
              </a:spcAft>
              <a:buFont typeface="Arial"/>
              <a:buChar char="•"/>
            </a:pPr>
            <a:r>
              <a:rPr sz="1450" b="0" i="0">
                <a:solidFill>
                  <a:srgbClr val="1A1F26"/>
                </a:solidFill>
                <a:latin typeface="Calibri"/>
              </a:rPr>
              <a:t>Underground / stope optimisation on the same block model</a:t>
            </a:r>
          </a:p>
        </p:txBody>
      </p:sp>
      <p:sp>
        <p:nvSpPr>
          <p:cNvPr id="13" name="TextBox 12"/>
          <p:cNvSpPr txBox="1"/>
          <p:nvPr/>
        </p:nvSpPr>
        <p:spPr>
          <a:xfrm>
            <a:off x="384048" y="4315968"/>
            <a:ext cx="9601200" cy="457200"/>
          </a:xfrm>
          <a:prstGeom prst="rect">
            <a:avLst/>
          </a:prstGeom>
          <a:noFill/>
        </p:spPr>
        <p:txBody>
          <a:bodyPr wrap="square" lIns="18288" tIns="0" rIns="18288" bIns="0" anchor="t">
            <a:spAutoFit/>
          </a:bodyPr>
          <a:lstStyle/>
          <a:p>
            <a:pPr algn="l">
              <a:spcAft>
                <a:spcPts val="0"/>
              </a:spcAft>
              <a:buNone/>
            </a:pPr>
            <a:r>
              <a:rPr sz="2100" b="1" i="0">
                <a:solidFill>
                  <a:srgbClr val="0070C0"/>
                </a:solidFill>
                <a:latin typeface="Calibri"/>
              </a:rPr>
              <a:t>What we would need from Ecomine to prove it on your ground</a:t>
            </a:r>
          </a:p>
        </p:txBody>
      </p:sp>
      <p:sp>
        <p:nvSpPr>
          <p:cNvPr id="14" name="Rounded Rectangle 13"/>
          <p:cNvSpPr/>
          <p:nvPr/>
        </p:nvSpPr>
        <p:spPr>
          <a:xfrm>
            <a:off x="530352" y="4809744"/>
            <a:ext cx="3566160" cy="1335024"/>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94944" y="4956048"/>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500" b="1" i="0">
                <a:solidFill>
                  <a:srgbClr val="FFFFFF"/>
                </a:solidFill>
                <a:latin typeface="Calibri"/>
              </a:rPr>
              <a:t>1</a:t>
            </a:r>
          </a:p>
        </p:txBody>
      </p:sp>
      <p:sp>
        <p:nvSpPr>
          <p:cNvPr id="16" name="TextBox 15"/>
          <p:cNvSpPr txBox="1"/>
          <p:nvPr/>
        </p:nvSpPr>
        <p:spPr>
          <a:xfrm>
            <a:off x="1170431" y="4956048"/>
            <a:ext cx="2743200" cy="1097280"/>
          </a:xfrm>
          <a:prstGeom prst="rect">
            <a:avLst/>
          </a:prstGeom>
          <a:noFill/>
        </p:spPr>
        <p:txBody>
          <a:bodyPr wrap="square" lIns="18288" tIns="0" rIns="18288" bIns="0" anchor="t">
            <a:spAutoFit/>
          </a:bodyPr>
          <a:lstStyle/>
          <a:p>
            <a:pPr algn="l">
              <a:lnSpc>
                <a:spcPct val="95000"/>
              </a:lnSpc>
              <a:spcAft>
                <a:spcPts val="300"/>
              </a:spcAft>
              <a:buNone/>
            </a:pPr>
            <a:r>
              <a:rPr sz="1500" b="1" i="0">
                <a:solidFill>
                  <a:srgbClr val="1A1F26"/>
                </a:solidFill>
                <a:latin typeface="Calibri"/>
              </a:rPr>
              <a:t>A drilled deposit</a:t>
            </a:r>
          </a:p>
          <a:p>
            <a:pPr algn="l">
              <a:lnSpc>
                <a:spcPct val="95000"/>
              </a:lnSpc>
              <a:spcAft>
                <a:spcPts val="0"/>
              </a:spcAft>
              <a:buNone/>
            </a:pPr>
            <a:r>
              <a:rPr sz="1250" b="0" i="0">
                <a:solidFill>
                  <a:srgbClr val="5A6673"/>
                </a:solidFill>
                <a:latin typeface="Calibri"/>
              </a:rPr>
              <a:t>Collar, survey, assay and geology in whatever format you hold them.</a:t>
            </a:r>
          </a:p>
        </p:txBody>
      </p:sp>
      <p:sp>
        <p:nvSpPr>
          <p:cNvPr id="17" name="Rounded Rectangle 16"/>
          <p:cNvSpPr/>
          <p:nvPr/>
        </p:nvSpPr>
        <p:spPr>
          <a:xfrm>
            <a:off x="4265676" y="4809744"/>
            <a:ext cx="3566160" cy="1335024"/>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4430268" y="4956048"/>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500" b="1" i="0">
                <a:solidFill>
                  <a:srgbClr val="FFFFFF"/>
                </a:solidFill>
                <a:latin typeface="Calibri"/>
              </a:rPr>
              <a:t>2</a:t>
            </a:r>
          </a:p>
        </p:txBody>
      </p:sp>
      <p:sp>
        <p:nvSpPr>
          <p:cNvPr id="19" name="TextBox 18"/>
          <p:cNvSpPr txBox="1"/>
          <p:nvPr/>
        </p:nvSpPr>
        <p:spPr>
          <a:xfrm>
            <a:off x="4905756" y="4956048"/>
            <a:ext cx="2743200" cy="1097280"/>
          </a:xfrm>
          <a:prstGeom prst="rect">
            <a:avLst/>
          </a:prstGeom>
          <a:noFill/>
        </p:spPr>
        <p:txBody>
          <a:bodyPr wrap="square" lIns="18288" tIns="0" rIns="18288" bIns="0" anchor="t">
            <a:spAutoFit/>
          </a:bodyPr>
          <a:lstStyle/>
          <a:p>
            <a:pPr algn="l">
              <a:lnSpc>
                <a:spcPct val="95000"/>
              </a:lnSpc>
              <a:spcAft>
                <a:spcPts val="300"/>
              </a:spcAft>
              <a:buNone/>
            </a:pPr>
            <a:r>
              <a:rPr sz="1500" b="1" i="0">
                <a:solidFill>
                  <a:srgbClr val="1A1F26"/>
                </a:solidFill>
                <a:latin typeface="Calibri"/>
              </a:rPr>
              <a:t>Your cost assumptions</a:t>
            </a:r>
          </a:p>
          <a:p>
            <a:pPr algn="l">
              <a:lnSpc>
                <a:spcPct val="95000"/>
              </a:lnSpc>
              <a:spcAft>
                <a:spcPts val="0"/>
              </a:spcAft>
              <a:buNone/>
            </a:pPr>
            <a:r>
              <a:rPr sz="1250" b="0" i="0">
                <a:solidFill>
                  <a:srgbClr val="5A6673"/>
                </a:solidFill>
                <a:latin typeface="Calibri"/>
              </a:rPr>
              <a:t>Mining, processing and G&amp;A per tonne, recovery, and the slope your geotechs accept.</a:t>
            </a:r>
          </a:p>
        </p:txBody>
      </p:sp>
      <p:sp>
        <p:nvSpPr>
          <p:cNvPr id="20" name="Rounded Rectangle 19"/>
          <p:cNvSpPr/>
          <p:nvPr/>
        </p:nvSpPr>
        <p:spPr>
          <a:xfrm>
            <a:off x="8001000" y="4809744"/>
            <a:ext cx="3566160" cy="1335024"/>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165592" y="4956048"/>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500" b="1" i="0">
                <a:solidFill>
                  <a:srgbClr val="FFFFFF"/>
                </a:solidFill>
                <a:latin typeface="Calibri"/>
              </a:rPr>
              <a:t>3</a:t>
            </a:r>
          </a:p>
        </p:txBody>
      </p:sp>
      <p:sp>
        <p:nvSpPr>
          <p:cNvPr id="22" name="TextBox 21"/>
          <p:cNvSpPr txBox="1"/>
          <p:nvPr/>
        </p:nvSpPr>
        <p:spPr>
          <a:xfrm>
            <a:off x="8641080" y="4956048"/>
            <a:ext cx="2743200" cy="1097280"/>
          </a:xfrm>
          <a:prstGeom prst="rect">
            <a:avLst/>
          </a:prstGeom>
          <a:noFill/>
        </p:spPr>
        <p:txBody>
          <a:bodyPr wrap="square" lIns="18288" tIns="0" rIns="18288" bIns="0" anchor="t">
            <a:spAutoFit/>
          </a:bodyPr>
          <a:lstStyle/>
          <a:p>
            <a:pPr algn="l">
              <a:lnSpc>
                <a:spcPct val="95000"/>
              </a:lnSpc>
              <a:spcAft>
                <a:spcPts val="300"/>
              </a:spcAft>
              <a:buNone/>
            </a:pPr>
            <a:r>
              <a:rPr sz="1500" b="1" i="0">
                <a:solidFill>
                  <a:srgbClr val="1A1F26"/>
                </a:solidFill>
                <a:latin typeface="Calibri"/>
              </a:rPr>
              <a:t>A benchmark</a:t>
            </a:r>
          </a:p>
          <a:p>
            <a:pPr algn="l">
              <a:lnSpc>
                <a:spcPct val="95000"/>
              </a:lnSpc>
              <a:spcAft>
                <a:spcPts val="0"/>
              </a:spcAft>
              <a:buNone/>
            </a:pPr>
            <a:r>
              <a:rPr sz="1250" b="0" i="0">
                <a:solidFill>
                  <a:srgbClr val="5A6673"/>
                </a:solidFill>
                <a:latin typeface="Calibri"/>
              </a:rPr>
              <a:t>An existing estimate for the same ground, so the two can be compared honestly.</a:t>
            </a:r>
          </a:p>
        </p:txBody>
      </p:sp>
      <p:sp>
        <p:nvSpPr>
          <p:cNvPr id="23" name="TextBox 22"/>
          <p:cNvSpPr txBox="1"/>
          <p:nvPr/>
        </p:nvSpPr>
        <p:spPr>
          <a:xfrm>
            <a:off x="530352" y="6291072"/>
            <a:ext cx="10972800" cy="365760"/>
          </a:xfrm>
          <a:prstGeom prst="rect">
            <a:avLst/>
          </a:prstGeom>
          <a:noFill/>
        </p:spPr>
        <p:txBody>
          <a:bodyPr wrap="square" lIns="18288" tIns="0" rIns="18288" bIns="0" anchor="t">
            <a:spAutoFit/>
          </a:bodyPr>
          <a:lstStyle/>
          <a:p>
            <a:pPr algn="l">
              <a:spcAft>
                <a:spcPts val="0"/>
              </a:spcAft>
              <a:buNone/>
            </a:pPr>
            <a:r>
              <a:rPr sz="1300" b="0" i="1">
                <a:solidFill>
                  <a:srgbClr val="5A6673"/>
                </a:solidFill>
                <a:latin typeface="Calibri"/>
              </a:rPr>
              <a:t>A full technical reference for the system — architecture, control flow and every module — is available as a 52-page document.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1097280" y="2487168"/>
            <a:ext cx="9966960" cy="1371600"/>
          </a:xfrm>
          <a:prstGeom prst="rect">
            <a:avLst/>
          </a:prstGeom>
          <a:noFill/>
        </p:spPr>
        <p:txBody>
          <a:bodyPr wrap="square" lIns="18288" tIns="0" rIns="18288" bIns="0" anchor="t">
            <a:spAutoFit/>
          </a:bodyPr>
          <a:lstStyle/>
          <a:p>
            <a:pPr algn="ctr">
              <a:spcAft>
                <a:spcPts val="0"/>
              </a:spcAft>
              <a:buNone/>
            </a:pPr>
            <a:r>
              <a:rPr sz="9600" b="0" i="0">
                <a:solidFill>
                  <a:srgbClr val="0070C0"/>
                </a:solidFill>
                <a:latin typeface="Calibri"/>
              </a:rPr>
              <a:t>Thank </a:t>
            </a:r>
            <a:r>
              <a:rPr sz="9600" b="0" i="0">
                <a:solidFill>
                  <a:srgbClr val="00B050"/>
                </a:solidFill>
                <a:latin typeface="Calibri"/>
              </a:rPr>
              <a:t>You</a:t>
            </a:r>
          </a:p>
        </p:txBody>
      </p:sp>
      <p:sp>
        <p:nvSpPr>
          <p:cNvPr id="8" name="TextBox 7"/>
          <p:cNvSpPr txBox="1"/>
          <p:nvPr/>
        </p:nvSpPr>
        <p:spPr>
          <a:xfrm>
            <a:off x="1097280" y="4133087"/>
            <a:ext cx="9966960" cy="457200"/>
          </a:xfrm>
          <a:prstGeom prst="rect">
            <a:avLst/>
          </a:prstGeom>
          <a:noFill/>
        </p:spPr>
        <p:txBody>
          <a:bodyPr wrap="square" lIns="18288" tIns="0" rIns="18288" bIns="0" anchor="t">
            <a:spAutoFit/>
          </a:bodyPr>
          <a:lstStyle/>
          <a:p>
            <a:pPr algn="ctr">
              <a:spcAft>
                <a:spcPts val="0"/>
              </a:spcAft>
              <a:buNone/>
            </a:pPr>
            <a:r>
              <a:rPr sz="2100" b="0" i="0">
                <a:solidFill>
                  <a:srgbClr val="5A6673"/>
                </a:solidFill>
                <a:latin typeface="Calibri"/>
              </a:rPr>
              <a:t>Ore Body AI  —  drillholes to ultimate pit limit, in one run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2536</Words>
  <Application>Microsoft Office PowerPoint</Application>
  <PresentationFormat>Widescreen</PresentationFormat>
  <Paragraphs>299</Paragraphs>
  <Slides>16</Slides>
  <Notes>0</Notes>
  <HiddenSlides>0</HiddenSlides>
  <MMClips>2</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Anurag Raj</cp:lastModifiedBy>
  <cp:revision>2</cp:revision>
  <dcterms:created xsi:type="dcterms:W3CDTF">2013-01-27T09:14:16Z</dcterms:created>
  <dcterms:modified xsi:type="dcterms:W3CDTF">2026-10-04T17:46:39Z</dcterms:modified>
  <cp:category/>
</cp:coreProperties>
</file>